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 id="214748366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Poppins"/>
      <p:regular r:id="rId20"/>
      <p:bold r:id="rId21"/>
      <p:italic r:id="rId22"/>
      <p:boldItalic r:id="rId23"/>
    </p:embeddedFont>
    <p:embeddedFont>
      <p:font typeface="Helvetica Neue"/>
      <p:regular r:id="rId24"/>
      <p:bold r:id="rId25"/>
      <p:italic r:id="rId26"/>
      <p:boldItalic r:id="rId27"/>
    </p:embeddedFont>
    <p:embeddedFont>
      <p:font typeface="Helvetica Neue Light"/>
      <p:regular r:id="rId28"/>
      <p:bold r:id="rId29"/>
      <p:italic r:id="rId30"/>
      <p:boldItalic r:id="rId31"/>
    </p:embeddedFont>
    <p:embeddedFont>
      <p:font typeface="Poppins ExtraLight"/>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regular.fntdata"/><Relationship Id="rId22" Type="http://schemas.openxmlformats.org/officeDocument/2006/relationships/font" Target="fonts/Poppins-italic.fntdata"/><Relationship Id="rId21" Type="http://schemas.openxmlformats.org/officeDocument/2006/relationships/font" Target="fonts/Poppins-bold.fntdata"/><Relationship Id="rId24" Type="http://schemas.openxmlformats.org/officeDocument/2006/relationships/font" Target="fonts/HelveticaNeue-regular.fntdata"/><Relationship Id="rId23" Type="http://schemas.openxmlformats.org/officeDocument/2006/relationships/font" Target="fonts/Poppins-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HelveticaNeue-italic.fntdata"/><Relationship Id="rId25" Type="http://schemas.openxmlformats.org/officeDocument/2006/relationships/font" Target="fonts/HelveticaNeue-bold.fntdata"/><Relationship Id="rId28" Type="http://schemas.openxmlformats.org/officeDocument/2006/relationships/font" Target="fonts/HelveticaNeueLight-regular.fntdata"/><Relationship Id="rId27" Type="http://schemas.openxmlformats.org/officeDocument/2006/relationships/font" Target="fonts/HelveticaNeue-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HelveticaNeueLight-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Light-boldItalic.fntdata"/><Relationship Id="rId30" Type="http://schemas.openxmlformats.org/officeDocument/2006/relationships/font" Target="fonts/HelveticaNeueLight-italic.fntdata"/><Relationship Id="rId11" Type="http://schemas.openxmlformats.org/officeDocument/2006/relationships/slide" Target="slides/slide5.xml"/><Relationship Id="rId33" Type="http://schemas.openxmlformats.org/officeDocument/2006/relationships/font" Target="fonts/PoppinsExtraLight-bold.fntdata"/><Relationship Id="rId10" Type="http://schemas.openxmlformats.org/officeDocument/2006/relationships/slide" Target="slides/slide4.xml"/><Relationship Id="rId32" Type="http://schemas.openxmlformats.org/officeDocument/2006/relationships/font" Target="fonts/PoppinsExtraLight-regular.fntdata"/><Relationship Id="rId13" Type="http://schemas.openxmlformats.org/officeDocument/2006/relationships/slide" Target="slides/slide7.xml"/><Relationship Id="rId35" Type="http://schemas.openxmlformats.org/officeDocument/2006/relationships/font" Target="fonts/PoppinsExtraLight-boldItalic.fntdata"/><Relationship Id="rId12" Type="http://schemas.openxmlformats.org/officeDocument/2006/relationships/slide" Target="slides/slide6.xml"/><Relationship Id="rId34" Type="http://schemas.openxmlformats.org/officeDocument/2006/relationships/font" Target="fonts/PoppinsExtraLight-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e3f047586e_2_8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e3f047586e_2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3f047586e_2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3e3f047586e_2_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3e3f047586e_2_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e3f047586e_2_9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3e3f047586e_2_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3f047586e_0_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3e3f047586e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e3f047586e_0_1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3e3f047586e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e3f047586e_0_1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e3f047586e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3f047586e_0_2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e3f047586e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e3f047586e_0_1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e3f047586e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3f047586e_0_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3e3f047586e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e3f047586e_2_10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g3e3f047586e_2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e3f047586e_0_2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e3f047586e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3f047586e_2_10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e3f047586e_2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e3f047586e_2_11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3e3f047586e_2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e Conteúdo">
  <p:cSld name="1_Título e Conteúdo">
    <p:spTree>
      <p:nvGrpSpPr>
        <p:cNvPr id="52" name="Shape 52"/>
        <p:cNvGrpSpPr/>
        <p:nvPr/>
      </p:nvGrpSpPr>
      <p:grpSpPr>
        <a:xfrm>
          <a:off x="0" y="0"/>
          <a:ext cx="0" cy="0"/>
          <a:chOff x="0" y="0"/>
          <a:chExt cx="0" cy="0"/>
        </a:xfrm>
      </p:grpSpPr>
      <p:sp>
        <p:nvSpPr>
          <p:cNvPr id="53" name="Google Shape;53;p14"/>
          <p:cNvSpPr/>
          <p:nvPr/>
        </p:nvSpPr>
        <p:spPr>
          <a:xfrm>
            <a:off x="1" y="-1"/>
            <a:ext cx="9143999" cy="5143501"/>
          </a:xfrm>
          <a:prstGeom prst="rect">
            <a:avLst/>
          </a:prstGeom>
          <a:solidFill>
            <a:srgbClr val="E3EA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descr="Forma&#10;&#10;O conteúdo gerado por IA pode estar incorreto." id="54" name="Google Shape;54;p14"/>
          <p:cNvPicPr preferRelativeResize="0"/>
          <p:nvPr/>
        </p:nvPicPr>
        <p:blipFill rotWithShape="1">
          <a:blip r:embed="rId2">
            <a:alphaModFix/>
          </a:blip>
          <a:srcRect b="0" l="0" r="0" t="0"/>
          <a:stretch/>
        </p:blipFill>
        <p:spPr>
          <a:xfrm rot="-5400000">
            <a:off x="7574014" y="120958"/>
            <a:ext cx="1968021" cy="1726105"/>
          </a:xfrm>
          <a:prstGeom prst="rect">
            <a:avLst/>
          </a:prstGeom>
          <a:noFill/>
          <a:ln>
            <a:noFill/>
          </a:ln>
        </p:spPr>
      </p:pic>
      <p:pic>
        <p:nvPicPr>
          <p:cNvPr descr="Forma&#10;&#10;O conteúdo gerado por IA pode estar incorreto." id="55" name="Google Shape;55;p14"/>
          <p:cNvPicPr preferRelativeResize="0"/>
          <p:nvPr/>
        </p:nvPicPr>
        <p:blipFill rotWithShape="1">
          <a:blip r:embed="rId3">
            <a:alphaModFix/>
          </a:blip>
          <a:srcRect b="0" l="0" r="0" t="0"/>
          <a:stretch/>
        </p:blipFill>
        <p:spPr>
          <a:xfrm rot="5400000">
            <a:off x="-247237" y="3434852"/>
            <a:ext cx="1962721" cy="1454573"/>
          </a:xfrm>
          <a:prstGeom prst="rect">
            <a:avLst/>
          </a:prstGeom>
          <a:noFill/>
          <a:ln>
            <a:noFill/>
          </a:ln>
        </p:spPr>
      </p:pic>
      <p:pic>
        <p:nvPicPr>
          <p:cNvPr descr="Forma&#10;&#10;Descrição gerada automaticamente com confiança média" id="56" name="Google Shape;56;p14"/>
          <p:cNvPicPr preferRelativeResize="0"/>
          <p:nvPr/>
        </p:nvPicPr>
        <p:blipFill rotWithShape="1">
          <a:blip r:embed="rId4">
            <a:alphaModFix/>
          </a:blip>
          <a:srcRect b="0" l="0" r="0" t="0"/>
          <a:stretch/>
        </p:blipFill>
        <p:spPr>
          <a:xfrm>
            <a:off x="4136569" y="4422451"/>
            <a:ext cx="2565280" cy="633430"/>
          </a:xfrm>
          <a:prstGeom prst="rect">
            <a:avLst/>
          </a:prstGeom>
          <a:noFill/>
          <a:ln>
            <a:noFill/>
          </a:ln>
        </p:spPr>
      </p:pic>
      <p:pic>
        <p:nvPicPr>
          <p:cNvPr descr="Forma&#10;&#10;Descrição gerada automaticamente com confiança média" id="57" name="Google Shape;57;p14"/>
          <p:cNvPicPr preferRelativeResize="0"/>
          <p:nvPr/>
        </p:nvPicPr>
        <p:blipFill rotWithShape="1">
          <a:blip r:embed="rId5">
            <a:alphaModFix/>
          </a:blip>
          <a:srcRect b="0" l="0" r="0" t="0"/>
          <a:stretch/>
        </p:blipFill>
        <p:spPr>
          <a:xfrm>
            <a:off x="2721798" y="4436597"/>
            <a:ext cx="1507288" cy="480011"/>
          </a:xfrm>
          <a:prstGeom prst="rect">
            <a:avLst/>
          </a:prstGeom>
          <a:noFill/>
          <a:ln>
            <a:noFill/>
          </a:ln>
        </p:spPr>
      </p:pic>
      <p:pic>
        <p:nvPicPr>
          <p:cNvPr descr="Texto, Logotipo&#10;&#10;O conteúdo gerado por IA pode estar incorreto." id="58" name="Google Shape;58;p14"/>
          <p:cNvPicPr preferRelativeResize="0"/>
          <p:nvPr/>
        </p:nvPicPr>
        <p:blipFill rotWithShape="1">
          <a:blip r:embed="rId6">
            <a:alphaModFix/>
          </a:blip>
          <a:srcRect b="0" l="0" r="0" t="0"/>
          <a:stretch/>
        </p:blipFill>
        <p:spPr>
          <a:xfrm>
            <a:off x="284278" y="627220"/>
            <a:ext cx="3191164" cy="1020126"/>
          </a:xfrm>
          <a:prstGeom prst="rect">
            <a:avLst/>
          </a:prstGeom>
          <a:noFill/>
          <a:ln>
            <a:noFill/>
          </a:ln>
        </p:spPr>
      </p:pic>
      <p:pic>
        <p:nvPicPr>
          <p:cNvPr descr="Forma&#10;&#10;O conteúdo gerado por IA pode estar incorreto." id="59" name="Google Shape;59;p14"/>
          <p:cNvPicPr preferRelativeResize="0"/>
          <p:nvPr/>
        </p:nvPicPr>
        <p:blipFill rotWithShape="1">
          <a:blip r:embed="rId7">
            <a:alphaModFix/>
          </a:blip>
          <a:srcRect b="0" l="0" r="0" t="0"/>
          <a:stretch/>
        </p:blipFill>
        <p:spPr>
          <a:xfrm>
            <a:off x="8164430" y="1476725"/>
            <a:ext cx="620638" cy="496684"/>
          </a:xfrm>
          <a:prstGeom prst="rect">
            <a:avLst/>
          </a:prstGeom>
          <a:noFill/>
          <a:ln>
            <a:noFill/>
          </a:ln>
        </p:spPr>
      </p:pic>
      <p:sp>
        <p:nvSpPr>
          <p:cNvPr id="60" name="Google Shape;60;p14"/>
          <p:cNvSpPr txBox="1"/>
          <p:nvPr>
            <p:ph type="title"/>
          </p:nvPr>
        </p:nvSpPr>
        <p:spPr>
          <a:xfrm>
            <a:off x="1888151" y="1750890"/>
            <a:ext cx="5806820" cy="837984"/>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rgbClr val="1A1D4A"/>
              </a:buClr>
              <a:buSzPts val="2700"/>
              <a:buFont typeface="Helvetica Neue"/>
              <a:buNone/>
              <a:defRPr b="1" i="0" sz="2700" u="none" cap="none" strike="noStrike">
                <a:solidFill>
                  <a:srgbClr val="1A1D4A"/>
                </a:solidFill>
                <a:latin typeface="Helvetica Neue"/>
                <a:ea typeface="Helvetica Neue"/>
                <a:cs typeface="Helvetica Neue"/>
                <a:sym typeface="Helvetica Neue"/>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61" name="Google Shape;61;p14"/>
          <p:cNvSpPr txBox="1"/>
          <p:nvPr>
            <p:ph idx="1" type="body"/>
          </p:nvPr>
        </p:nvSpPr>
        <p:spPr>
          <a:xfrm>
            <a:off x="1879860" y="2675689"/>
            <a:ext cx="4496991" cy="47982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rgbClr val="1A1D4A"/>
              </a:buClr>
              <a:buSzPts val="2100"/>
              <a:buFont typeface="Arial"/>
              <a:buNone/>
              <a:defRPr b="0" i="0" sz="2100" u="none" cap="none" strike="noStrike">
                <a:solidFill>
                  <a:srgbClr val="1A1D4A"/>
                </a:solidFill>
                <a:latin typeface="Poppins"/>
                <a:ea typeface="Poppins"/>
                <a:cs typeface="Poppins"/>
                <a:sym typeface="Poppins"/>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62" name="Google Shape;62;p14"/>
          <p:cNvSpPr txBox="1"/>
          <p:nvPr>
            <p:ph idx="2" type="body"/>
          </p:nvPr>
        </p:nvSpPr>
        <p:spPr>
          <a:xfrm>
            <a:off x="1879997" y="3264694"/>
            <a:ext cx="4496990" cy="47982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rgbClr val="1A1D4A"/>
              </a:buClr>
              <a:buSzPts val="2100"/>
              <a:buFont typeface="Arial"/>
              <a:buNone/>
              <a:defRPr b="0" i="0" sz="2100" u="none" cap="none" strike="noStrike">
                <a:solidFill>
                  <a:srgbClr val="1A1D4A"/>
                </a:solidFill>
                <a:latin typeface="Poppins"/>
                <a:ea typeface="Poppins"/>
                <a:cs typeface="Poppins"/>
                <a:sym typeface="Poppins"/>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63" name="Google Shape;63;p14"/>
          <p:cNvSpPr txBox="1"/>
          <p:nvPr/>
        </p:nvSpPr>
        <p:spPr>
          <a:xfrm>
            <a:off x="0" y="200318"/>
            <a:ext cx="2857500" cy="276999"/>
          </a:xfrm>
          <a:prstGeom prst="rect">
            <a:avLst/>
          </a:prstGeom>
          <a:solidFill>
            <a:srgbClr val="ED5860"/>
          </a:solidFill>
          <a:ln>
            <a:noFill/>
          </a:ln>
        </p:spPr>
        <p:txBody>
          <a:bodyPr anchorCtr="0" anchor="t" bIns="34275" lIns="68575" spcFirstLastPara="1" rIns="68575" wrap="square" tIns="34275">
            <a:spAutoFit/>
          </a:bodyPr>
          <a:lstStyle/>
          <a:p>
            <a:pPr indent="0" lvl="0" marL="0" marR="0" rtl="0" algn="ctr">
              <a:spcBef>
                <a:spcPts val="0"/>
              </a:spcBef>
              <a:spcAft>
                <a:spcPts val="0"/>
              </a:spcAft>
              <a:buClr>
                <a:schemeClr val="lt1"/>
              </a:buClr>
              <a:buSzPts val="1800"/>
              <a:buFont typeface="Poppins Medium"/>
              <a:buNone/>
            </a:pPr>
            <a:r>
              <a:rPr b="1" i="0" lang="pt-BR" sz="1400" u="none" cap="none" strike="noStrike">
                <a:solidFill>
                  <a:schemeClr val="lt1"/>
                </a:solidFill>
                <a:latin typeface="Helvetica Neue"/>
                <a:ea typeface="Helvetica Neue"/>
                <a:cs typeface="Helvetica Neue"/>
                <a:sym typeface="Helvetica Neue"/>
              </a:rPr>
              <a:t>SOCIALIZAÇÃO DA PRÁTICA</a:t>
            </a:r>
            <a:endParaRPr b="1" sz="1400">
              <a:solidFill>
                <a:schemeClr val="dk1"/>
              </a:solidFill>
              <a:latin typeface="Helvetica Neue"/>
              <a:ea typeface="Helvetica Neue"/>
              <a:cs typeface="Helvetica Neue"/>
              <a:sym typeface="Helvetica Neue"/>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Cabeçalho da Seção">
  <p:cSld name="25_Cabeçalho da Seção">
    <p:spTree>
      <p:nvGrpSpPr>
        <p:cNvPr id="64" name="Shape 64"/>
        <p:cNvGrpSpPr/>
        <p:nvPr/>
      </p:nvGrpSpPr>
      <p:grpSpPr>
        <a:xfrm>
          <a:off x="0" y="0"/>
          <a:ext cx="0" cy="0"/>
          <a:chOff x="0" y="0"/>
          <a:chExt cx="0" cy="0"/>
        </a:xfrm>
      </p:grpSpPr>
      <p:pic>
        <p:nvPicPr>
          <p:cNvPr descr="Forma&#10;&#10;O conteúdo gerado por IA pode estar incorreto." id="65" name="Google Shape;65;p15"/>
          <p:cNvPicPr preferRelativeResize="0"/>
          <p:nvPr/>
        </p:nvPicPr>
        <p:blipFill rotWithShape="1">
          <a:blip r:embed="rId2">
            <a:alphaModFix/>
          </a:blip>
          <a:srcRect b="0" l="0" r="0" t="0"/>
          <a:stretch/>
        </p:blipFill>
        <p:spPr>
          <a:xfrm>
            <a:off x="7783431" y="-4987"/>
            <a:ext cx="1360569" cy="1193323"/>
          </a:xfrm>
          <a:prstGeom prst="rect">
            <a:avLst/>
          </a:prstGeom>
          <a:noFill/>
          <a:ln>
            <a:noFill/>
          </a:ln>
        </p:spPr>
      </p:pic>
      <p:sp>
        <p:nvSpPr>
          <p:cNvPr id="66" name="Google Shape;66;p15"/>
          <p:cNvSpPr txBox="1"/>
          <p:nvPr/>
        </p:nvSpPr>
        <p:spPr>
          <a:xfrm>
            <a:off x="1507331" y="184838"/>
            <a:ext cx="6379369" cy="807914"/>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FF0000"/>
              </a:buClr>
              <a:buSzPts val="2400"/>
              <a:buFont typeface="Arial"/>
              <a:buNone/>
            </a:pPr>
            <a:r>
              <a:rPr b="1" i="0" lang="pt-BR" sz="2400">
                <a:solidFill>
                  <a:srgbClr val="FF0000"/>
                </a:solidFill>
                <a:latin typeface="Poppins"/>
                <a:ea typeface="Poppins"/>
                <a:cs typeface="Poppins"/>
                <a:sym typeface="Poppins"/>
              </a:rPr>
              <a:t>SOCIALIZAÇÃO</a:t>
            </a:r>
            <a:r>
              <a:rPr b="0" i="0" lang="pt-BR" sz="2400">
                <a:solidFill>
                  <a:srgbClr val="1A1D4A"/>
                </a:solidFill>
                <a:latin typeface="Poppins"/>
                <a:ea typeface="Poppins"/>
                <a:cs typeface="Poppins"/>
                <a:sym typeface="Poppins"/>
              </a:rPr>
              <a:t> </a:t>
            </a:r>
            <a:r>
              <a:rPr b="1" i="0" lang="pt-BR" sz="2400">
                <a:solidFill>
                  <a:srgbClr val="1A1D4A"/>
                </a:solidFill>
                <a:latin typeface="Poppins"/>
                <a:ea typeface="Poppins"/>
                <a:cs typeface="Poppins"/>
                <a:sym typeface="Poppins"/>
              </a:rPr>
              <a:t>DAS PRÁTICAS </a:t>
            </a:r>
            <a:r>
              <a:rPr b="1" i="0" lang="pt-BR" sz="2400">
                <a:solidFill>
                  <a:srgbClr val="FF0000"/>
                </a:solidFill>
                <a:latin typeface="Poppins"/>
                <a:ea typeface="Poppins"/>
                <a:cs typeface="Poppins"/>
                <a:sym typeface="Poppins"/>
              </a:rPr>
              <a:t>PEDAGÓGICAS</a:t>
            </a:r>
            <a:r>
              <a:rPr b="1" i="0" lang="pt-BR" sz="2400">
                <a:solidFill>
                  <a:srgbClr val="1A1D4A"/>
                </a:solidFill>
                <a:latin typeface="Poppins"/>
                <a:ea typeface="Poppins"/>
                <a:cs typeface="Poppins"/>
                <a:sym typeface="Poppins"/>
              </a:rPr>
              <a:t> </a:t>
            </a:r>
            <a:endParaRPr b="1" i="0" sz="2400">
              <a:solidFill>
                <a:srgbClr val="ED5860"/>
              </a:solidFill>
              <a:latin typeface="Poppins"/>
              <a:ea typeface="Poppins"/>
              <a:cs typeface="Poppins"/>
              <a:sym typeface="Poppins"/>
            </a:endParaRPr>
          </a:p>
        </p:txBody>
      </p:sp>
      <p:pic>
        <p:nvPicPr>
          <p:cNvPr descr="Forma&#10;&#10;O conteúdo gerado por IA pode estar incorreto." id="67" name="Google Shape;67;p15"/>
          <p:cNvPicPr preferRelativeResize="0"/>
          <p:nvPr/>
        </p:nvPicPr>
        <p:blipFill rotWithShape="1">
          <a:blip r:embed="rId2">
            <a:alphaModFix/>
          </a:blip>
          <a:srcRect b="0" l="0" r="0" t="0"/>
          <a:stretch/>
        </p:blipFill>
        <p:spPr>
          <a:xfrm>
            <a:off x="7783431" y="-4987"/>
            <a:ext cx="1360569" cy="1193323"/>
          </a:xfrm>
          <a:prstGeom prst="rect">
            <a:avLst/>
          </a:prstGeom>
          <a:noFill/>
          <a:ln>
            <a:noFill/>
          </a:ln>
        </p:spPr>
      </p:pic>
      <p:sp>
        <p:nvSpPr>
          <p:cNvPr id="68" name="Google Shape;68;p15"/>
          <p:cNvSpPr/>
          <p:nvPr/>
        </p:nvSpPr>
        <p:spPr>
          <a:xfrm>
            <a:off x="372952" y="992752"/>
            <a:ext cx="8442435" cy="3862662"/>
          </a:xfrm>
          <a:prstGeom prst="rect">
            <a:avLst/>
          </a:prstGeom>
          <a:solidFill>
            <a:srgbClr val="E3EAF0"/>
          </a:solidFill>
          <a:ln cap="flat" cmpd="sng" w="19050">
            <a:solidFill>
              <a:srgbClr val="ED586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descr="Forma&#10;&#10;O conteúdo gerado por IA pode estar incorreto." id="69" name="Google Shape;69;p15"/>
          <p:cNvPicPr preferRelativeResize="0"/>
          <p:nvPr/>
        </p:nvPicPr>
        <p:blipFill rotWithShape="1">
          <a:blip r:embed="rId3">
            <a:alphaModFix/>
          </a:blip>
          <a:srcRect b="0" l="0" r="0" t="0"/>
          <a:stretch/>
        </p:blipFill>
        <p:spPr>
          <a:xfrm>
            <a:off x="-970" y="4047909"/>
            <a:ext cx="783568" cy="1034392"/>
          </a:xfrm>
          <a:prstGeom prst="rect">
            <a:avLst/>
          </a:prstGeom>
          <a:noFill/>
          <a:ln>
            <a:noFill/>
          </a:ln>
        </p:spPr>
      </p:pic>
      <p:pic>
        <p:nvPicPr>
          <p:cNvPr descr="Forma&#10;&#10;O conteúdo gerado por IA pode estar incorreto." id="70" name="Google Shape;70;p15"/>
          <p:cNvPicPr preferRelativeResize="0"/>
          <p:nvPr/>
        </p:nvPicPr>
        <p:blipFill rotWithShape="1">
          <a:blip r:embed="rId3">
            <a:alphaModFix/>
          </a:blip>
          <a:srcRect b="0" l="0" r="0" t="0"/>
          <a:stretch/>
        </p:blipFill>
        <p:spPr>
          <a:xfrm rot="5400000">
            <a:off x="125715" y="-171425"/>
            <a:ext cx="889247" cy="1173902"/>
          </a:xfrm>
          <a:prstGeom prst="rect">
            <a:avLst/>
          </a:prstGeom>
          <a:noFill/>
          <a:ln>
            <a:noFill/>
          </a:ln>
        </p:spPr>
      </p:pic>
      <p:sp>
        <p:nvSpPr>
          <p:cNvPr id="71" name="Google Shape;71;p15"/>
          <p:cNvSpPr txBox="1"/>
          <p:nvPr/>
        </p:nvSpPr>
        <p:spPr>
          <a:xfrm>
            <a:off x="570338" y="1299803"/>
            <a:ext cx="3003668" cy="497443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pt-BR" sz="1300">
                <a:solidFill>
                  <a:srgbClr val="1A1D4A"/>
                </a:solidFill>
                <a:latin typeface="Poppins"/>
                <a:ea typeface="Poppins"/>
                <a:cs typeface="Poppins"/>
                <a:sym typeface="Poppins"/>
              </a:rPr>
              <a:t>Nome do Professor (a):​</a:t>
            </a:r>
            <a:endParaRPr sz="1100"/>
          </a:p>
          <a:p>
            <a:pPr indent="0" lvl="0" marL="0" marR="0" rtl="0" algn="l">
              <a:spcBef>
                <a:spcPts val="0"/>
              </a:spcBef>
              <a:spcAft>
                <a:spcPts val="0"/>
              </a:spcAft>
              <a:buNone/>
            </a:pPr>
            <a:r>
              <a:rPr b="1" lang="pt-BR" sz="1300">
                <a:solidFill>
                  <a:srgbClr val="1A1D4A"/>
                </a:solidFill>
                <a:latin typeface="Poppins"/>
                <a:ea typeface="Poppins"/>
                <a:cs typeface="Poppins"/>
                <a:sym typeface="Poppins"/>
              </a:rPr>
              <a:t> </a:t>
            </a:r>
            <a:endParaRPr sz="1100"/>
          </a:p>
          <a:p>
            <a:pPr indent="0" lvl="0" marL="0" marR="0" rtl="0" algn="l">
              <a:spcBef>
                <a:spcPts val="0"/>
              </a:spcBef>
              <a:spcAft>
                <a:spcPts val="0"/>
              </a:spcAft>
              <a:buNone/>
            </a:pPr>
            <a:r>
              <a:t/>
            </a:r>
            <a:endParaRPr b="1" sz="1300">
              <a:solidFill>
                <a:srgbClr val="1A1D4A"/>
              </a:solidFill>
              <a:latin typeface="Poppins"/>
              <a:ea typeface="Poppins"/>
              <a:cs typeface="Poppins"/>
              <a:sym typeface="Poppins"/>
            </a:endParaRPr>
          </a:p>
          <a:p>
            <a:pPr indent="0" lvl="0" marL="0" marR="0" rtl="0" algn="l">
              <a:spcBef>
                <a:spcPts val="0"/>
              </a:spcBef>
              <a:spcAft>
                <a:spcPts val="0"/>
              </a:spcAft>
              <a:buNone/>
            </a:pPr>
            <a:r>
              <a:rPr b="1" lang="pt-BR" sz="1300">
                <a:solidFill>
                  <a:srgbClr val="1A1D4A"/>
                </a:solidFill>
                <a:latin typeface="Poppins"/>
                <a:ea typeface="Poppins"/>
                <a:cs typeface="Poppins"/>
                <a:sym typeface="Poppins"/>
              </a:rPr>
              <a:t>Nome da Escola: ​</a:t>
            </a:r>
            <a:endParaRPr sz="1100"/>
          </a:p>
          <a:p>
            <a:pPr indent="0" lvl="0" marL="0" marR="0" rtl="0" algn="l">
              <a:spcBef>
                <a:spcPts val="0"/>
              </a:spcBef>
              <a:spcAft>
                <a:spcPts val="0"/>
              </a:spcAft>
              <a:buNone/>
            </a:pPr>
            <a:r>
              <a:t/>
            </a:r>
            <a:endParaRPr b="1" sz="1300">
              <a:solidFill>
                <a:srgbClr val="1A1D4A"/>
              </a:solidFill>
              <a:latin typeface="Poppins"/>
              <a:ea typeface="Poppins"/>
              <a:cs typeface="Poppins"/>
              <a:sym typeface="Poppins"/>
            </a:endParaRPr>
          </a:p>
          <a:p>
            <a:pPr indent="0" lvl="0" marL="0" marR="0" rtl="0" algn="l">
              <a:spcBef>
                <a:spcPts val="0"/>
              </a:spcBef>
              <a:spcAft>
                <a:spcPts val="0"/>
              </a:spcAft>
              <a:buNone/>
            </a:pPr>
            <a:r>
              <a:t/>
            </a:r>
            <a:endParaRPr b="1" sz="1300">
              <a:solidFill>
                <a:srgbClr val="1A1D4A"/>
              </a:solidFill>
              <a:latin typeface="Poppins"/>
              <a:ea typeface="Poppins"/>
              <a:cs typeface="Poppins"/>
              <a:sym typeface="Poppins"/>
            </a:endParaRPr>
          </a:p>
          <a:p>
            <a:pPr indent="0" lvl="0" marL="0" marR="0" rtl="0" algn="l">
              <a:spcBef>
                <a:spcPts val="0"/>
              </a:spcBef>
              <a:spcAft>
                <a:spcPts val="0"/>
              </a:spcAft>
              <a:buNone/>
            </a:pPr>
            <a:r>
              <a:rPr b="1" lang="pt-BR" sz="1300">
                <a:solidFill>
                  <a:srgbClr val="1A1D4A"/>
                </a:solidFill>
                <a:latin typeface="Poppins"/>
                <a:ea typeface="Poppins"/>
                <a:cs typeface="Poppins"/>
                <a:sym typeface="Poppins"/>
              </a:rPr>
              <a:t>Unidade Regional de Ensino: ​</a:t>
            </a:r>
            <a:endParaRPr sz="1100"/>
          </a:p>
          <a:p>
            <a:pPr indent="0" lvl="0" marL="0" marR="0" rtl="0" algn="l">
              <a:spcBef>
                <a:spcPts val="0"/>
              </a:spcBef>
              <a:spcAft>
                <a:spcPts val="0"/>
              </a:spcAft>
              <a:buNone/>
            </a:pPr>
            <a:r>
              <a:t/>
            </a:r>
            <a:endParaRPr b="1" sz="1300">
              <a:solidFill>
                <a:srgbClr val="1A1D4A"/>
              </a:solidFill>
              <a:latin typeface="Poppins"/>
              <a:ea typeface="Poppins"/>
              <a:cs typeface="Poppins"/>
              <a:sym typeface="Poppins"/>
            </a:endParaRPr>
          </a:p>
          <a:p>
            <a:pPr indent="0" lvl="0" marL="0" marR="0" rtl="0" algn="l">
              <a:spcBef>
                <a:spcPts val="0"/>
              </a:spcBef>
              <a:spcAft>
                <a:spcPts val="0"/>
              </a:spcAft>
              <a:buNone/>
            </a:pPr>
            <a:r>
              <a:t/>
            </a:r>
            <a:endParaRPr b="1" sz="1300">
              <a:solidFill>
                <a:srgbClr val="1A1D4A"/>
              </a:solidFill>
              <a:latin typeface="Poppins"/>
              <a:ea typeface="Poppins"/>
              <a:cs typeface="Poppins"/>
              <a:sym typeface="Poppins"/>
            </a:endParaRPr>
          </a:p>
          <a:p>
            <a:pPr indent="0" lvl="0" marL="0" marR="0" rtl="0" algn="l">
              <a:spcBef>
                <a:spcPts val="0"/>
              </a:spcBef>
              <a:spcAft>
                <a:spcPts val="0"/>
              </a:spcAft>
              <a:buNone/>
            </a:pPr>
            <a:r>
              <a:rPr b="1" lang="pt-BR" sz="1300">
                <a:solidFill>
                  <a:srgbClr val="1A1D4A"/>
                </a:solidFill>
                <a:latin typeface="Poppins"/>
                <a:ea typeface="Poppins"/>
                <a:cs typeface="Poppins"/>
                <a:sym typeface="Poppins"/>
              </a:rPr>
              <a:t>Ano/série escolar:​ </a:t>
            </a:r>
            <a:endParaRPr sz="1100"/>
          </a:p>
          <a:p>
            <a:pPr indent="0" lvl="0" marL="0" marR="0" rtl="0" algn="l">
              <a:spcBef>
                <a:spcPts val="0"/>
              </a:spcBef>
              <a:spcAft>
                <a:spcPts val="0"/>
              </a:spcAft>
              <a:buNone/>
            </a:pPr>
            <a:r>
              <a:t/>
            </a:r>
            <a:endParaRPr b="1" sz="1300">
              <a:solidFill>
                <a:srgbClr val="1A1D4A"/>
              </a:solidFill>
              <a:latin typeface="Poppins"/>
              <a:ea typeface="Poppins"/>
              <a:cs typeface="Poppins"/>
              <a:sym typeface="Poppins"/>
            </a:endParaRPr>
          </a:p>
          <a:p>
            <a:pPr indent="0" lvl="0" marL="0" marR="0" rtl="0" algn="l">
              <a:spcBef>
                <a:spcPts val="0"/>
              </a:spcBef>
              <a:spcAft>
                <a:spcPts val="0"/>
              </a:spcAft>
              <a:buNone/>
            </a:pPr>
            <a:r>
              <a:t/>
            </a:r>
            <a:endParaRPr b="1" sz="1300">
              <a:solidFill>
                <a:srgbClr val="1A1D4A"/>
              </a:solidFill>
              <a:latin typeface="Poppins"/>
              <a:ea typeface="Poppins"/>
              <a:cs typeface="Poppins"/>
              <a:sym typeface="Poppins"/>
            </a:endParaRPr>
          </a:p>
          <a:p>
            <a:pPr indent="0" lvl="0" marL="0" marR="0" rtl="0" algn="l">
              <a:spcBef>
                <a:spcPts val="0"/>
              </a:spcBef>
              <a:spcAft>
                <a:spcPts val="0"/>
              </a:spcAft>
              <a:buNone/>
            </a:pPr>
            <a:r>
              <a:rPr b="1" lang="pt-BR" sz="1300">
                <a:solidFill>
                  <a:srgbClr val="1A1D4A"/>
                </a:solidFill>
                <a:latin typeface="Poppins"/>
                <a:ea typeface="Poppins"/>
                <a:cs typeface="Poppins"/>
                <a:sym typeface="Poppins"/>
              </a:rPr>
              <a:t>Tema inscrito no </a:t>
            </a:r>
            <a:endParaRPr sz="1100"/>
          </a:p>
          <a:p>
            <a:pPr indent="0" lvl="0" marL="0" marR="0" rtl="0" algn="l">
              <a:spcBef>
                <a:spcPts val="0"/>
              </a:spcBef>
              <a:spcAft>
                <a:spcPts val="0"/>
              </a:spcAft>
              <a:buNone/>
            </a:pPr>
            <a:r>
              <a:rPr b="1" lang="pt-BR" sz="1300">
                <a:solidFill>
                  <a:srgbClr val="1A1D4A"/>
                </a:solidFill>
                <a:latin typeface="Poppins"/>
                <a:ea typeface="Poppins"/>
                <a:cs typeface="Poppins"/>
                <a:sym typeface="Poppins"/>
              </a:rPr>
              <a:t>Multiplica: </a:t>
            </a:r>
            <a:endParaRPr sz="1100"/>
          </a:p>
          <a:p>
            <a:pPr indent="0" lvl="0" marL="0" marR="0" rtl="0" algn="l">
              <a:spcBef>
                <a:spcPts val="0"/>
              </a:spcBef>
              <a:spcAft>
                <a:spcPts val="0"/>
              </a:spcAft>
              <a:buNone/>
            </a:pPr>
            <a:r>
              <a:t/>
            </a:r>
            <a:endParaRPr b="1" sz="1300">
              <a:solidFill>
                <a:srgbClr val="1A1D4A"/>
              </a:solidFill>
              <a:latin typeface="Poppins"/>
              <a:ea typeface="Poppins"/>
              <a:cs typeface="Poppins"/>
              <a:sym typeface="Poppins"/>
            </a:endParaRPr>
          </a:p>
          <a:p>
            <a:pPr indent="0" lvl="0" marL="0" marR="0" rtl="0" algn="l">
              <a:spcBef>
                <a:spcPts val="0"/>
              </a:spcBef>
              <a:spcAft>
                <a:spcPts val="0"/>
              </a:spcAft>
              <a:buNone/>
            </a:pPr>
            <a:r>
              <a:rPr b="1" lang="pt-BR" sz="1300">
                <a:solidFill>
                  <a:srgbClr val="1A1D4A"/>
                </a:solidFill>
                <a:latin typeface="Poppins"/>
                <a:ea typeface="Poppins"/>
                <a:cs typeface="Poppins"/>
                <a:sym typeface="Poppins"/>
              </a:rPr>
              <a:t>Componente ao que tem aula atribuída:</a:t>
            </a:r>
            <a:endParaRPr sz="1100"/>
          </a:p>
          <a:p>
            <a:pPr indent="0" lvl="0" marL="0" marR="0" rtl="0" algn="l">
              <a:spcBef>
                <a:spcPts val="0"/>
              </a:spcBef>
              <a:spcAft>
                <a:spcPts val="0"/>
              </a:spcAft>
              <a:buNone/>
            </a:pPr>
            <a:r>
              <a:t/>
            </a:r>
            <a:endParaRPr b="1" sz="1300">
              <a:solidFill>
                <a:srgbClr val="1A1D4A"/>
              </a:solidFill>
              <a:latin typeface="Poppins"/>
              <a:ea typeface="Poppins"/>
              <a:cs typeface="Poppins"/>
              <a:sym typeface="Poppins"/>
            </a:endParaRPr>
          </a:p>
          <a:p>
            <a:pPr indent="0" lvl="0" marL="0" marR="0" rtl="0" algn="l">
              <a:spcBef>
                <a:spcPts val="0"/>
              </a:spcBef>
              <a:spcAft>
                <a:spcPts val="0"/>
              </a:spcAft>
              <a:buNone/>
            </a:pPr>
            <a:r>
              <a:t/>
            </a:r>
            <a:endParaRPr b="1" sz="1300">
              <a:solidFill>
                <a:srgbClr val="1A1D4A"/>
              </a:solidFill>
              <a:latin typeface="Poppins"/>
              <a:ea typeface="Poppins"/>
              <a:cs typeface="Poppins"/>
              <a:sym typeface="Poppins"/>
            </a:endParaRPr>
          </a:p>
          <a:p>
            <a:pPr indent="0" lvl="0" marL="0" marR="0" rtl="0" algn="l">
              <a:spcBef>
                <a:spcPts val="0"/>
              </a:spcBef>
              <a:spcAft>
                <a:spcPts val="0"/>
              </a:spcAft>
              <a:buNone/>
            </a:pPr>
            <a:r>
              <a:t/>
            </a:r>
            <a:endParaRPr b="1" sz="1300">
              <a:solidFill>
                <a:srgbClr val="1A1D4A"/>
              </a:solidFill>
              <a:latin typeface="Poppins"/>
              <a:ea typeface="Poppins"/>
              <a:cs typeface="Poppins"/>
              <a:sym typeface="Poppins"/>
            </a:endParaRPr>
          </a:p>
          <a:p>
            <a:pPr indent="0" lvl="0" marL="0" marR="0" rtl="0" algn="l">
              <a:spcBef>
                <a:spcPts val="0"/>
              </a:spcBef>
              <a:spcAft>
                <a:spcPts val="0"/>
              </a:spcAft>
              <a:buNone/>
            </a:pPr>
            <a:r>
              <a:t/>
            </a:r>
            <a:endParaRPr b="1" sz="1300">
              <a:solidFill>
                <a:srgbClr val="1A1D4A"/>
              </a:solidFill>
              <a:latin typeface="Poppins"/>
              <a:ea typeface="Poppins"/>
              <a:cs typeface="Poppins"/>
              <a:sym typeface="Poppins"/>
            </a:endParaRPr>
          </a:p>
          <a:p>
            <a:pPr indent="0" lvl="0" marL="0" marR="0" rtl="0" algn="l">
              <a:spcBef>
                <a:spcPts val="0"/>
              </a:spcBef>
              <a:spcAft>
                <a:spcPts val="0"/>
              </a:spcAft>
              <a:buNone/>
            </a:pPr>
            <a:r>
              <a:t/>
            </a:r>
            <a:endParaRPr b="1" sz="1300">
              <a:solidFill>
                <a:srgbClr val="1A1D4A"/>
              </a:solidFill>
              <a:latin typeface="Poppins"/>
              <a:ea typeface="Poppins"/>
              <a:cs typeface="Poppins"/>
              <a:sym typeface="Poppins"/>
            </a:endParaRPr>
          </a:p>
          <a:p>
            <a:pPr indent="0" lvl="0" marL="0" marR="0" rtl="0" algn="l">
              <a:spcBef>
                <a:spcPts val="0"/>
              </a:spcBef>
              <a:spcAft>
                <a:spcPts val="0"/>
              </a:spcAft>
              <a:buNone/>
            </a:pPr>
            <a:r>
              <a:t/>
            </a:r>
            <a:endParaRPr b="1" sz="1300">
              <a:solidFill>
                <a:srgbClr val="1A1D4A"/>
              </a:solidFill>
              <a:latin typeface="Poppins"/>
              <a:ea typeface="Poppins"/>
              <a:cs typeface="Poppins"/>
              <a:sym typeface="Poppins"/>
            </a:endParaRPr>
          </a:p>
          <a:p>
            <a:pPr indent="0" lvl="0" marL="0" marR="0" rtl="0" algn="l">
              <a:spcBef>
                <a:spcPts val="0"/>
              </a:spcBef>
              <a:spcAft>
                <a:spcPts val="0"/>
              </a:spcAft>
              <a:buNone/>
            </a:pPr>
            <a:r>
              <a:t/>
            </a:r>
            <a:endParaRPr b="1" sz="1300">
              <a:solidFill>
                <a:srgbClr val="1A1D4A"/>
              </a:solidFill>
              <a:latin typeface="Poppins"/>
              <a:ea typeface="Poppins"/>
              <a:cs typeface="Poppins"/>
              <a:sym typeface="Poppins"/>
            </a:endParaRPr>
          </a:p>
          <a:p>
            <a:pPr indent="0" lvl="0" marL="0" marR="0" rtl="0" algn="l">
              <a:spcBef>
                <a:spcPts val="0"/>
              </a:spcBef>
              <a:spcAft>
                <a:spcPts val="0"/>
              </a:spcAft>
              <a:buNone/>
            </a:pPr>
            <a:r>
              <a:t/>
            </a:r>
            <a:endParaRPr sz="1300">
              <a:solidFill>
                <a:schemeClr val="dk1"/>
              </a:solidFill>
              <a:latin typeface="Arial"/>
              <a:ea typeface="Arial"/>
              <a:cs typeface="Arial"/>
              <a:sym typeface="Arial"/>
            </a:endParaRPr>
          </a:p>
        </p:txBody>
      </p:sp>
      <p:sp>
        <p:nvSpPr>
          <p:cNvPr id="72" name="Google Shape;72;p15"/>
          <p:cNvSpPr txBox="1"/>
          <p:nvPr>
            <p:ph idx="1" type="body"/>
          </p:nvPr>
        </p:nvSpPr>
        <p:spPr>
          <a:xfrm>
            <a:off x="2614612" y="1285206"/>
            <a:ext cx="6102894" cy="2725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200"/>
              <a:buFont typeface="Arial"/>
              <a:buNone/>
              <a:defRPr b="0" i="0" sz="1200" u="none" cap="none" strike="noStrike">
                <a:solidFill>
                  <a:schemeClr val="dk1"/>
                </a:solidFill>
                <a:latin typeface="Poppins"/>
                <a:ea typeface="Poppins"/>
                <a:cs typeface="Poppins"/>
                <a:sym typeface="Poppins"/>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73" name="Google Shape;73;p15"/>
          <p:cNvSpPr txBox="1"/>
          <p:nvPr>
            <p:ph idx="2" type="body"/>
          </p:nvPr>
        </p:nvSpPr>
        <p:spPr>
          <a:xfrm>
            <a:off x="2072172" y="1893267"/>
            <a:ext cx="6645334" cy="24347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200"/>
              <a:buFont typeface="Arial"/>
              <a:buNone/>
              <a:defRPr b="0" i="0" sz="1200" u="none" cap="none" strike="noStrike">
                <a:solidFill>
                  <a:schemeClr val="dk1"/>
                </a:solidFill>
                <a:latin typeface="Poppins"/>
                <a:ea typeface="Poppins"/>
                <a:cs typeface="Poppins"/>
                <a:sym typeface="Poppins"/>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pic>
        <p:nvPicPr>
          <p:cNvPr descr="Texto, Logotipo&#10;&#10;O conteúdo gerado por IA pode estar incorreto." id="74" name="Google Shape;74;p15"/>
          <p:cNvPicPr preferRelativeResize="0"/>
          <p:nvPr/>
        </p:nvPicPr>
        <p:blipFill rotWithShape="1">
          <a:blip r:embed="rId4">
            <a:alphaModFix/>
          </a:blip>
          <a:srcRect b="0" l="0" r="0" t="0"/>
          <a:stretch/>
        </p:blipFill>
        <p:spPr>
          <a:xfrm>
            <a:off x="7740857" y="4749854"/>
            <a:ext cx="1306387" cy="417616"/>
          </a:xfrm>
          <a:prstGeom prst="rect">
            <a:avLst/>
          </a:prstGeom>
          <a:noFill/>
          <a:ln>
            <a:noFill/>
          </a:ln>
        </p:spPr>
      </p:pic>
      <p:sp>
        <p:nvSpPr>
          <p:cNvPr id="75" name="Google Shape;75;p15"/>
          <p:cNvSpPr txBox="1"/>
          <p:nvPr>
            <p:ph idx="3" type="body"/>
          </p:nvPr>
        </p:nvSpPr>
        <p:spPr>
          <a:xfrm>
            <a:off x="3045779" y="2475058"/>
            <a:ext cx="5671727" cy="24347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200"/>
              <a:buFont typeface="Arial"/>
              <a:buNone/>
              <a:defRPr b="0" i="0" sz="1200" u="none" cap="none" strike="noStrike">
                <a:solidFill>
                  <a:schemeClr val="dk1"/>
                </a:solidFill>
                <a:latin typeface="Poppins"/>
                <a:ea typeface="Poppins"/>
                <a:cs typeface="Poppins"/>
                <a:sym typeface="Poppins"/>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76" name="Google Shape;76;p15"/>
          <p:cNvSpPr txBox="1"/>
          <p:nvPr>
            <p:ph idx="4" type="body"/>
          </p:nvPr>
        </p:nvSpPr>
        <p:spPr>
          <a:xfrm>
            <a:off x="2247329" y="3056849"/>
            <a:ext cx="6470177" cy="24347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200"/>
              <a:buFont typeface="Arial"/>
              <a:buNone/>
              <a:defRPr b="0" i="0" sz="1200" u="none" cap="none" strike="noStrike">
                <a:solidFill>
                  <a:schemeClr val="dk1"/>
                </a:solidFill>
                <a:latin typeface="Poppins"/>
                <a:ea typeface="Poppins"/>
                <a:cs typeface="Poppins"/>
                <a:sym typeface="Poppins"/>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77" name="Google Shape;77;p15"/>
          <p:cNvSpPr txBox="1"/>
          <p:nvPr>
            <p:ph idx="5" type="body"/>
          </p:nvPr>
        </p:nvSpPr>
        <p:spPr>
          <a:xfrm>
            <a:off x="2170053" y="3679717"/>
            <a:ext cx="6547453" cy="36819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200"/>
              <a:buFont typeface="Arial"/>
              <a:buNone/>
              <a:defRPr b="0" i="0" sz="1200" u="none" cap="none" strike="noStrike">
                <a:solidFill>
                  <a:schemeClr val="dk1"/>
                </a:solidFill>
                <a:latin typeface="Poppins"/>
                <a:ea typeface="Poppins"/>
                <a:cs typeface="Poppins"/>
                <a:sym typeface="Poppins"/>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pic>
        <p:nvPicPr>
          <p:cNvPr descr="Forma&#10;&#10;O conteúdo gerado por IA pode estar incorreto." id="78" name="Google Shape;78;p15"/>
          <p:cNvPicPr preferRelativeResize="0"/>
          <p:nvPr/>
        </p:nvPicPr>
        <p:blipFill rotWithShape="1">
          <a:blip r:embed="rId5">
            <a:alphaModFix/>
          </a:blip>
          <a:srcRect b="0" l="0" r="0" t="0"/>
          <a:stretch/>
        </p:blipFill>
        <p:spPr>
          <a:xfrm>
            <a:off x="84262" y="775491"/>
            <a:ext cx="620638" cy="496684"/>
          </a:xfrm>
          <a:prstGeom prst="rect">
            <a:avLst/>
          </a:prstGeom>
          <a:noFill/>
          <a:ln>
            <a:noFill/>
          </a:ln>
        </p:spPr>
      </p:pic>
      <p:sp>
        <p:nvSpPr>
          <p:cNvPr id="79" name="Google Shape;79;p15"/>
          <p:cNvSpPr txBox="1"/>
          <p:nvPr>
            <p:ph idx="6" type="body"/>
          </p:nvPr>
        </p:nvSpPr>
        <p:spPr>
          <a:xfrm>
            <a:off x="3196656" y="4253702"/>
            <a:ext cx="5520851" cy="417616"/>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200"/>
              <a:buFont typeface="Arial"/>
              <a:buNone/>
              <a:defRPr b="0" i="0" sz="1200" u="none" cap="none" strike="noStrike">
                <a:solidFill>
                  <a:schemeClr val="dk1"/>
                </a:solidFill>
                <a:latin typeface="Poppins"/>
                <a:ea typeface="Poppins"/>
                <a:cs typeface="Poppins"/>
                <a:sym typeface="Poppins"/>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STRATÉGIA">
  <p:cSld name="ESTRATÉGIA">
    <p:spTree>
      <p:nvGrpSpPr>
        <p:cNvPr id="80" name="Shape 80"/>
        <p:cNvGrpSpPr/>
        <p:nvPr/>
      </p:nvGrpSpPr>
      <p:grpSpPr>
        <a:xfrm>
          <a:off x="0" y="0"/>
          <a:ext cx="0" cy="0"/>
          <a:chOff x="0" y="0"/>
          <a:chExt cx="0" cy="0"/>
        </a:xfrm>
      </p:grpSpPr>
      <p:pic>
        <p:nvPicPr>
          <p:cNvPr descr="Forma&#10;&#10;O conteúdo gerado por IA pode estar incorreto." id="81" name="Google Shape;81;p16"/>
          <p:cNvPicPr preferRelativeResize="0"/>
          <p:nvPr/>
        </p:nvPicPr>
        <p:blipFill rotWithShape="1">
          <a:blip r:embed="rId2">
            <a:alphaModFix/>
          </a:blip>
          <a:srcRect b="0" l="0" r="0" t="0"/>
          <a:stretch/>
        </p:blipFill>
        <p:spPr>
          <a:xfrm>
            <a:off x="7783431" y="-4987"/>
            <a:ext cx="1360569" cy="1193323"/>
          </a:xfrm>
          <a:prstGeom prst="rect">
            <a:avLst/>
          </a:prstGeom>
          <a:noFill/>
          <a:ln>
            <a:noFill/>
          </a:ln>
        </p:spPr>
      </p:pic>
      <p:pic>
        <p:nvPicPr>
          <p:cNvPr descr="Forma&#10;&#10;O conteúdo gerado por IA pode estar incorreto." id="82" name="Google Shape;82;p16"/>
          <p:cNvPicPr preferRelativeResize="0"/>
          <p:nvPr/>
        </p:nvPicPr>
        <p:blipFill rotWithShape="1">
          <a:blip r:embed="rId2">
            <a:alphaModFix/>
          </a:blip>
          <a:srcRect b="0" l="0" r="0" t="0"/>
          <a:stretch/>
        </p:blipFill>
        <p:spPr>
          <a:xfrm>
            <a:off x="7783431" y="-4987"/>
            <a:ext cx="1360569" cy="1193323"/>
          </a:xfrm>
          <a:prstGeom prst="rect">
            <a:avLst/>
          </a:prstGeom>
          <a:noFill/>
          <a:ln>
            <a:noFill/>
          </a:ln>
        </p:spPr>
      </p:pic>
      <p:pic>
        <p:nvPicPr>
          <p:cNvPr descr="Texto, Logotipo&#10;&#10;O conteúdo gerado por IA pode estar incorreto." id="83" name="Google Shape;83;p16"/>
          <p:cNvPicPr preferRelativeResize="0"/>
          <p:nvPr/>
        </p:nvPicPr>
        <p:blipFill rotWithShape="1">
          <a:blip r:embed="rId3">
            <a:alphaModFix/>
          </a:blip>
          <a:srcRect b="0" l="0" r="0" t="0"/>
          <a:stretch/>
        </p:blipFill>
        <p:spPr>
          <a:xfrm>
            <a:off x="7508123" y="4610777"/>
            <a:ext cx="1484938" cy="474694"/>
          </a:xfrm>
          <a:prstGeom prst="rect">
            <a:avLst/>
          </a:prstGeom>
          <a:noFill/>
          <a:ln>
            <a:noFill/>
          </a:ln>
        </p:spPr>
      </p:pic>
      <p:sp>
        <p:nvSpPr>
          <p:cNvPr id="84" name="Google Shape;84;p16"/>
          <p:cNvSpPr/>
          <p:nvPr/>
        </p:nvSpPr>
        <p:spPr>
          <a:xfrm>
            <a:off x="441434" y="1152158"/>
            <a:ext cx="8442435" cy="3420091"/>
          </a:xfrm>
          <a:prstGeom prst="rect">
            <a:avLst/>
          </a:prstGeom>
          <a:solidFill>
            <a:srgbClr val="E3EAF0"/>
          </a:solidFill>
          <a:ln cap="flat" cmpd="sng" w="19050">
            <a:solidFill>
              <a:srgbClr val="ED586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descr="Forma&#10;&#10;O conteúdo gerado por IA pode estar incorreto." id="85" name="Google Shape;85;p16"/>
          <p:cNvPicPr preferRelativeResize="0"/>
          <p:nvPr/>
        </p:nvPicPr>
        <p:blipFill rotWithShape="1">
          <a:blip r:embed="rId4">
            <a:alphaModFix/>
          </a:blip>
          <a:srcRect b="0" l="0" r="0" t="0"/>
          <a:stretch/>
        </p:blipFill>
        <p:spPr>
          <a:xfrm>
            <a:off x="153775" y="920977"/>
            <a:ext cx="620638" cy="496684"/>
          </a:xfrm>
          <a:prstGeom prst="rect">
            <a:avLst/>
          </a:prstGeom>
          <a:noFill/>
          <a:ln>
            <a:noFill/>
          </a:ln>
        </p:spPr>
      </p:pic>
      <p:pic>
        <p:nvPicPr>
          <p:cNvPr descr="Forma&#10;&#10;O conteúdo gerado por IA pode estar incorreto." id="86" name="Google Shape;86;p16"/>
          <p:cNvPicPr preferRelativeResize="0"/>
          <p:nvPr/>
        </p:nvPicPr>
        <p:blipFill rotWithShape="1">
          <a:blip r:embed="rId5">
            <a:alphaModFix/>
          </a:blip>
          <a:srcRect b="0" l="0" r="0" t="0"/>
          <a:stretch/>
        </p:blipFill>
        <p:spPr>
          <a:xfrm>
            <a:off x="153775" y="4055053"/>
            <a:ext cx="783568" cy="1034392"/>
          </a:xfrm>
          <a:prstGeom prst="rect">
            <a:avLst/>
          </a:prstGeom>
          <a:noFill/>
          <a:ln>
            <a:noFill/>
          </a:ln>
        </p:spPr>
      </p:pic>
      <p:sp>
        <p:nvSpPr>
          <p:cNvPr id="87" name="Google Shape;87;p16"/>
          <p:cNvSpPr txBox="1"/>
          <p:nvPr/>
        </p:nvSpPr>
        <p:spPr>
          <a:xfrm>
            <a:off x="725370" y="184838"/>
            <a:ext cx="7693260" cy="900247"/>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FF0000"/>
              </a:buClr>
              <a:buSzPts val="2700"/>
              <a:buFont typeface="Arial"/>
              <a:buNone/>
            </a:pPr>
            <a:r>
              <a:rPr b="1" i="0" lang="pt-BR" sz="2700">
                <a:solidFill>
                  <a:srgbClr val="FF0000"/>
                </a:solidFill>
                <a:latin typeface="Poppins"/>
                <a:ea typeface="Poppins"/>
                <a:cs typeface="Poppins"/>
                <a:sym typeface="Poppins"/>
              </a:rPr>
              <a:t>SOCIALIZAÇÃO</a:t>
            </a:r>
            <a:r>
              <a:rPr b="0" i="0" lang="pt-BR" sz="2700">
                <a:solidFill>
                  <a:srgbClr val="1A1D4A"/>
                </a:solidFill>
                <a:latin typeface="Poppins"/>
                <a:ea typeface="Poppins"/>
                <a:cs typeface="Poppins"/>
                <a:sym typeface="Poppins"/>
              </a:rPr>
              <a:t> </a:t>
            </a:r>
            <a:r>
              <a:rPr b="1" i="0" lang="pt-BR" sz="2700">
                <a:solidFill>
                  <a:srgbClr val="1A1D4A"/>
                </a:solidFill>
                <a:latin typeface="Poppins"/>
                <a:ea typeface="Poppins"/>
                <a:cs typeface="Poppins"/>
                <a:sym typeface="Poppins"/>
              </a:rPr>
              <a:t>DE </a:t>
            </a:r>
            <a:endParaRPr sz="1100"/>
          </a:p>
          <a:p>
            <a:pPr indent="0" lvl="0" marL="0" marR="0" rtl="0" algn="ctr">
              <a:lnSpc>
                <a:spcPct val="100000"/>
              </a:lnSpc>
              <a:spcBef>
                <a:spcPts val="0"/>
              </a:spcBef>
              <a:spcAft>
                <a:spcPts val="0"/>
              </a:spcAft>
              <a:buClr>
                <a:srgbClr val="1A1D4A"/>
              </a:buClr>
              <a:buSzPts val="2700"/>
              <a:buFont typeface="Arial"/>
              <a:buNone/>
            </a:pPr>
            <a:r>
              <a:rPr b="1" i="0" lang="pt-BR" sz="2700">
                <a:solidFill>
                  <a:srgbClr val="1A1D4A"/>
                </a:solidFill>
                <a:latin typeface="Poppins"/>
                <a:ea typeface="Poppins"/>
                <a:cs typeface="Poppins"/>
                <a:sym typeface="Poppins"/>
              </a:rPr>
              <a:t>PRÁTICAS </a:t>
            </a:r>
            <a:r>
              <a:rPr b="1" i="0" lang="pt-BR" sz="2700">
                <a:solidFill>
                  <a:srgbClr val="FF0000"/>
                </a:solidFill>
                <a:latin typeface="Poppins"/>
                <a:ea typeface="Poppins"/>
                <a:cs typeface="Poppins"/>
                <a:sym typeface="Poppins"/>
              </a:rPr>
              <a:t>PEDAGÓGICAS</a:t>
            </a:r>
            <a:r>
              <a:rPr b="1" i="0" lang="pt-BR" sz="2700">
                <a:solidFill>
                  <a:srgbClr val="1A1D4A"/>
                </a:solidFill>
                <a:latin typeface="Poppins"/>
                <a:ea typeface="Poppins"/>
                <a:cs typeface="Poppins"/>
                <a:sym typeface="Poppins"/>
              </a:rPr>
              <a:t> </a:t>
            </a:r>
            <a:endParaRPr b="1" i="0" sz="2700">
              <a:solidFill>
                <a:srgbClr val="ED5860"/>
              </a:solidFill>
              <a:latin typeface="Poppins"/>
              <a:ea typeface="Poppins"/>
              <a:cs typeface="Poppins"/>
              <a:sym typeface="Poppins"/>
            </a:endParaRPr>
          </a:p>
        </p:txBody>
      </p:sp>
      <p:pic>
        <p:nvPicPr>
          <p:cNvPr descr="Forma&#10;&#10;O conteúdo gerado por IA pode estar incorreto." id="88" name="Google Shape;88;p16"/>
          <p:cNvPicPr preferRelativeResize="0"/>
          <p:nvPr/>
        </p:nvPicPr>
        <p:blipFill rotWithShape="1">
          <a:blip r:embed="rId5">
            <a:alphaModFix/>
          </a:blip>
          <a:srcRect b="0" l="0" r="0" t="0"/>
          <a:stretch/>
        </p:blipFill>
        <p:spPr>
          <a:xfrm rot="5400000">
            <a:off x="169436" y="-231363"/>
            <a:ext cx="1111868" cy="1467783"/>
          </a:xfrm>
          <a:prstGeom prst="rect">
            <a:avLst/>
          </a:prstGeom>
          <a:noFill/>
          <a:ln>
            <a:noFill/>
          </a:ln>
        </p:spPr>
      </p:pic>
      <p:sp>
        <p:nvSpPr>
          <p:cNvPr id="89" name="Google Shape;89;p16"/>
          <p:cNvSpPr txBox="1"/>
          <p:nvPr/>
        </p:nvSpPr>
        <p:spPr>
          <a:xfrm>
            <a:off x="725370" y="1155260"/>
            <a:ext cx="7977196" cy="646331"/>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1A1D4A"/>
              </a:buClr>
              <a:buSzPts val="1400"/>
              <a:buFont typeface="Poppins"/>
              <a:buNone/>
            </a:pPr>
            <a:r>
              <a:rPr b="1" lang="pt-BR" sz="1400">
                <a:solidFill>
                  <a:srgbClr val="1A1D4A"/>
                </a:solidFill>
                <a:latin typeface="Poppins"/>
                <a:ea typeface="Poppins"/>
                <a:cs typeface="Poppins"/>
                <a:sym typeface="Poppins"/>
              </a:rPr>
              <a:t>Descreva a prática que você aplicou em uma aula que tenha sido inspirada em alguma formação do Multiplica. </a:t>
            </a:r>
            <a:endParaRPr sz="1100"/>
          </a:p>
          <a:p>
            <a:pPr indent="0" lvl="0" marL="0" marR="0" rtl="0" algn="l">
              <a:lnSpc>
                <a:spcPct val="100000"/>
              </a:lnSpc>
              <a:spcBef>
                <a:spcPts val="0"/>
              </a:spcBef>
              <a:spcAft>
                <a:spcPts val="0"/>
              </a:spcAft>
              <a:buClr>
                <a:srgbClr val="1A1D4A"/>
              </a:buClr>
              <a:buSzPts val="1100"/>
              <a:buFont typeface="Arial"/>
              <a:buNone/>
            </a:pPr>
            <a:r>
              <a:rPr lang="pt-BR" sz="1100">
                <a:solidFill>
                  <a:srgbClr val="1A1D4A"/>
                </a:solidFill>
                <a:latin typeface="Arial"/>
                <a:ea typeface="Arial"/>
                <a:cs typeface="Arial"/>
                <a:sym typeface="Arial"/>
              </a:rPr>
              <a:t>(Aborde a estratégia ou prática utilizada e justifique a sua escolha.)</a:t>
            </a:r>
            <a:endParaRPr b="1" sz="1400">
              <a:solidFill>
                <a:srgbClr val="1A1D4A"/>
              </a:solidFill>
              <a:latin typeface="Arial"/>
              <a:ea typeface="Arial"/>
              <a:cs typeface="Arial"/>
              <a:sym typeface="Arial"/>
            </a:endParaRPr>
          </a:p>
        </p:txBody>
      </p:sp>
      <p:sp>
        <p:nvSpPr>
          <p:cNvPr id="90" name="Google Shape;90;p16"/>
          <p:cNvSpPr txBox="1"/>
          <p:nvPr>
            <p:ph idx="1" type="body"/>
          </p:nvPr>
        </p:nvSpPr>
        <p:spPr>
          <a:xfrm>
            <a:off x="725370" y="1821224"/>
            <a:ext cx="7977188" cy="260790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rgbClr val="1A1D4A"/>
              </a:buClr>
              <a:buSzPts val="1400"/>
              <a:buFont typeface="Arial"/>
              <a:buNone/>
              <a:defRPr b="0" i="0" sz="1400" u="none" cap="none" strike="noStrike">
                <a:solidFill>
                  <a:srgbClr val="1A1D4A"/>
                </a:solidFill>
                <a:latin typeface="Poppins"/>
                <a:ea typeface="Poppins"/>
                <a:cs typeface="Poppins"/>
                <a:sym typeface="Poppins"/>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ULTADOS">
  <p:cSld name="RESULTADOS">
    <p:spTree>
      <p:nvGrpSpPr>
        <p:cNvPr id="91" name="Shape 91"/>
        <p:cNvGrpSpPr/>
        <p:nvPr/>
      </p:nvGrpSpPr>
      <p:grpSpPr>
        <a:xfrm>
          <a:off x="0" y="0"/>
          <a:ext cx="0" cy="0"/>
          <a:chOff x="0" y="0"/>
          <a:chExt cx="0" cy="0"/>
        </a:xfrm>
      </p:grpSpPr>
      <p:pic>
        <p:nvPicPr>
          <p:cNvPr descr="Forma&#10;&#10;O conteúdo gerado por IA pode estar incorreto." id="92" name="Google Shape;92;p17"/>
          <p:cNvPicPr preferRelativeResize="0"/>
          <p:nvPr/>
        </p:nvPicPr>
        <p:blipFill rotWithShape="1">
          <a:blip r:embed="rId2">
            <a:alphaModFix/>
          </a:blip>
          <a:srcRect b="0" l="0" r="0" t="0"/>
          <a:stretch/>
        </p:blipFill>
        <p:spPr>
          <a:xfrm>
            <a:off x="7783431" y="-4987"/>
            <a:ext cx="1360569" cy="1193323"/>
          </a:xfrm>
          <a:prstGeom prst="rect">
            <a:avLst/>
          </a:prstGeom>
          <a:noFill/>
          <a:ln>
            <a:noFill/>
          </a:ln>
        </p:spPr>
      </p:pic>
      <p:pic>
        <p:nvPicPr>
          <p:cNvPr descr="Forma&#10;&#10;O conteúdo gerado por IA pode estar incorreto." id="93" name="Google Shape;93;p17"/>
          <p:cNvPicPr preferRelativeResize="0"/>
          <p:nvPr/>
        </p:nvPicPr>
        <p:blipFill rotWithShape="1">
          <a:blip r:embed="rId2">
            <a:alphaModFix/>
          </a:blip>
          <a:srcRect b="0" l="0" r="0" t="0"/>
          <a:stretch/>
        </p:blipFill>
        <p:spPr>
          <a:xfrm>
            <a:off x="7783431" y="-4987"/>
            <a:ext cx="1360569" cy="1193323"/>
          </a:xfrm>
          <a:prstGeom prst="rect">
            <a:avLst/>
          </a:prstGeom>
          <a:noFill/>
          <a:ln>
            <a:noFill/>
          </a:ln>
        </p:spPr>
      </p:pic>
      <p:pic>
        <p:nvPicPr>
          <p:cNvPr descr="Texto, Logotipo&#10;&#10;O conteúdo gerado por IA pode estar incorreto." id="94" name="Google Shape;94;p17"/>
          <p:cNvPicPr preferRelativeResize="0"/>
          <p:nvPr/>
        </p:nvPicPr>
        <p:blipFill rotWithShape="1">
          <a:blip r:embed="rId3">
            <a:alphaModFix/>
          </a:blip>
          <a:srcRect b="0" l="0" r="0" t="0"/>
          <a:stretch/>
        </p:blipFill>
        <p:spPr>
          <a:xfrm>
            <a:off x="7508123" y="4610777"/>
            <a:ext cx="1484938" cy="474694"/>
          </a:xfrm>
          <a:prstGeom prst="rect">
            <a:avLst/>
          </a:prstGeom>
          <a:noFill/>
          <a:ln>
            <a:noFill/>
          </a:ln>
        </p:spPr>
      </p:pic>
      <p:sp>
        <p:nvSpPr>
          <p:cNvPr id="95" name="Google Shape;95;p17"/>
          <p:cNvSpPr/>
          <p:nvPr/>
        </p:nvSpPr>
        <p:spPr>
          <a:xfrm>
            <a:off x="441434" y="1152158"/>
            <a:ext cx="8442435" cy="3420091"/>
          </a:xfrm>
          <a:prstGeom prst="rect">
            <a:avLst/>
          </a:prstGeom>
          <a:solidFill>
            <a:srgbClr val="E3EAF0"/>
          </a:solidFill>
          <a:ln cap="flat" cmpd="sng" w="19050">
            <a:solidFill>
              <a:srgbClr val="ED586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descr="Forma&#10;&#10;O conteúdo gerado por IA pode estar incorreto." id="96" name="Google Shape;96;p17"/>
          <p:cNvPicPr preferRelativeResize="0"/>
          <p:nvPr/>
        </p:nvPicPr>
        <p:blipFill rotWithShape="1">
          <a:blip r:embed="rId4">
            <a:alphaModFix/>
          </a:blip>
          <a:srcRect b="0" l="0" r="0" t="0"/>
          <a:stretch/>
        </p:blipFill>
        <p:spPr>
          <a:xfrm>
            <a:off x="153775" y="920977"/>
            <a:ext cx="620638" cy="496684"/>
          </a:xfrm>
          <a:prstGeom prst="rect">
            <a:avLst/>
          </a:prstGeom>
          <a:noFill/>
          <a:ln>
            <a:noFill/>
          </a:ln>
        </p:spPr>
      </p:pic>
      <p:pic>
        <p:nvPicPr>
          <p:cNvPr descr="Forma&#10;&#10;O conteúdo gerado por IA pode estar incorreto." id="97" name="Google Shape;97;p17"/>
          <p:cNvPicPr preferRelativeResize="0"/>
          <p:nvPr/>
        </p:nvPicPr>
        <p:blipFill rotWithShape="1">
          <a:blip r:embed="rId5">
            <a:alphaModFix/>
          </a:blip>
          <a:srcRect b="0" l="0" r="0" t="0"/>
          <a:stretch/>
        </p:blipFill>
        <p:spPr>
          <a:xfrm>
            <a:off x="153775" y="4055053"/>
            <a:ext cx="783568" cy="1034392"/>
          </a:xfrm>
          <a:prstGeom prst="rect">
            <a:avLst/>
          </a:prstGeom>
          <a:noFill/>
          <a:ln>
            <a:noFill/>
          </a:ln>
        </p:spPr>
      </p:pic>
      <p:sp>
        <p:nvSpPr>
          <p:cNvPr id="98" name="Google Shape;98;p17"/>
          <p:cNvSpPr txBox="1"/>
          <p:nvPr/>
        </p:nvSpPr>
        <p:spPr>
          <a:xfrm>
            <a:off x="725370" y="184838"/>
            <a:ext cx="7693260" cy="900247"/>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FF0000"/>
              </a:buClr>
              <a:buSzPts val="2700"/>
              <a:buFont typeface="Arial"/>
              <a:buNone/>
            </a:pPr>
            <a:r>
              <a:rPr b="1" i="0" lang="pt-BR" sz="2700">
                <a:solidFill>
                  <a:srgbClr val="FF0000"/>
                </a:solidFill>
                <a:latin typeface="Poppins"/>
                <a:ea typeface="Poppins"/>
                <a:cs typeface="Poppins"/>
                <a:sym typeface="Poppins"/>
              </a:rPr>
              <a:t>SOCIALIZAÇÃO</a:t>
            </a:r>
            <a:r>
              <a:rPr b="0" i="0" lang="pt-BR" sz="2700">
                <a:solidFill>
                  <a:srgbClr val="1A1D4A"/>
                </a:solidFill>
                <a:latin typeface="Poppins"/>
                <a:ea typeface="Poppins"/>
                <a:cs typeface="Poppins"/>
                <a:sym typeface="Poppins"/>
              </a:rPr>
              <a:t> </a:t>
            </a:r>
            <a:r>
              <a:rPr b="1" i="0" lang="pt-BR" sz="2700">
                <a:solidFill>
                  <a:srgbClr val="1A1D4A"/>
                </a:solidFill>
                <a:latin typeface="Poppins"/>
                <a:ea typeface="Poppins"/>
                <a:cs typeface="Poppins"/>
                <a:sym typeface="Poppins"/>
              </a:rPr>
              <a:t>DE </a:t>
            </a:r>
            <a:endParaRPr sz="1100"/>
          </a:p>
          <a:p>
            <a:pPr indent="0" lvl="0" marL="0" marR="0" rtl="0" algn="ctr">
              <a:lnSpc>
                <a:spcPct val="100000"/>
              </a:lnSpc>
              <a:spcBef>
                <a:spcPts val="0"/>
              </a:spcBef>
              <a:spcAft>
                <a:spcPts val="0"/>
              </a:spcAft>
              <a:buClr>
                <a:srgbClr val="1A1D4A"/>
              </a:buClr>
              <a:buSzPts val="2700"/>
              <a:buFont typeface="Arial"/>
              <a:buNone/>
            </a:pPr>
            <a:r>
              <a:rPr b="1" i="0" lang="pt-BR" sz="2700">
                <a:solidFill>
                  <a:srgbClr val="1A1D4A"/>
                </a:solidFill>
                <a:latin typeface="Poppins"/>
                <a:ea typeface="Poppins"/>
                <a:cs typeface="Poppins"/>
                <a:sym typeface="Poppins"/>
              </a:rPr>
              <a:t>PRÁTICAS </a:t>
            </a:r>
            <a:r>
              <a:rPr b="1" i="0" lang="pt-BR" sz="2700">
                <a:solidFill>
                  <a:srgbClr val="FF0000"/>
                </a:solidFill>
                <a:latin typeface="Poppins"/>
                <a:ea typeface="Poppins"/>
                <a:cs typeface="Poppins"/>
                <a:sym typeface="Poppins"/>
              </a:rPr>
              <a:t>PEDAGÓGICAS</a:t>
            </a:r>
            <a:r>
              <a:rPr b="1" i="0" lang="pt-BR" sz="2700">
                <a:solidFill>
                  <a:srgbClr val="1A1D4A"/>
                </a:solidFill>
                <a:latin typeface="Poppins"/>
                <a:ea typeface="Poppins"/>
                <a:cs typeface="Poppins"/>
                <a:sym typeface="Poppins"/>
              </a:rPr>
              <a:t> </a:t>
            </a:r>
            <a:endParaRPr b="1" i="0" sz="2700">
              <a:solidFill>
                <a:srgbClr val="ED5860"/>
              </a:solidFill>
              <a:latin typeface="Poppins"/>
              <a:ea typeface="Poppins"/>
              <a:cs typeface="Poppins"/>
              <a:sym typeface="Poppins"/>
            </a:endParaRPr>
          </a:p>
        </p:txBody>
      </p:sp>
      <p:pic>
        <p:nvPicPr>
          <p:cNvPr descr="Forma&#10;&#10;O conteúdo gerado por IA pode estar incorreto." id="99" name="Google Shape;99;p17"/>
          <p:cNvPicPr preferRelativeResize="0"/>
          <p:nvPr/>
        </p:nvPicPr>
        <p:blipFill rotWithShape="1">
          <a:blip r:embed="rId5">
            <a:alphaModFix/>
          </a:blip>
          <a:srcRect b="0" l="0" r="0" t="0"/>
          <a:stretch/>
        </p:blipFill>
        <p:spPr>
          <a:xfrm rot="5400000">
            <a:off x="331732" y="-137667"/>
            <a:ext cx="1111868" cy="1467783"/>
          </a:xfrm>
          <a:prstGeom prst="rect">
            <a:avLst/>
          </a:prstGeom>
          <a:noFill/>
          <a:ln>
            <a:noFill/>
          </a:ln>
        </p:spPr>
      </p:pic>
      <p:sp>
        <p:nvSpPr>
          <p:cNvPr id="100" name="Google Shape;100;p17"/>
          <p:cNvSpPr txBox="1"/>
          <p:nvPr/>
        </p:nvSpPr>
        <p:spPr>
          <a:xfrm>
            <a:off x="725370" y="1155699"/>
            <a:ext cx="7977196" cy="600164"/>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1A1D4A"/>
              </a:buClr>
              <a:buSzPts val="1400"/>
              <a:buFont typeface="Poppins"/>
              <a:buNone/>
            </a:pPr>
            <a:r>
              <a:rPr b="1" lang="pt-BR" sz="1400">
                <a:solidFill>
                  <a:srgbClr val="1A1D4A"/>
                </a:solidFill>
                <a:latin typeface="Poppins"/>
                <a:ea typeface="Poppins"/>
                <a:cs typeface="Poppins"/>
                <a:sym typeface="Poppins"/>
              </a:rPr>
              <a:t>Esta prática desenvolveu quais conteúdos do escopo-sequência/ guia priorizado</a:t>
            </a:r>
            <a:r>
              <a:rPr b="1" lang="pt-BR" sz="1100">
                <a:solidFill>
                  <a:srgbClr val="1A1D4A"/>
                </a:solidFill>
                <a:latin typeface="Poppins"/>
                <a:ea typeface="Poppins"/>
                <a:cs typeface="Poppins"/>
                <a:sym typeface="Poppins"/>
              </a:rPr>
              <a:t>?</a:t>
            </a:r>
            <a:r>
              <a:rPr lang="pt-BR" sz="1100">
                <a:solidFill>
                  <a:srgbClr val="1A1D4A"/>
                </a:solidFill>
                <a:latin typeface="Arial"/>
                <a:ea typeface="Arial"/>
                <a:cs typeface="Arial"/>
                <a:sym typeface="Arial"/>
              </a:rPr>
              <a:t> </a:t>
            </a:r>
            <a:endParaRPr sz="1100"/>
          </a:p>
          <a:p>
            <a:pPr indent="0" lvl="0" marL="0" marR="0" rtl="0" algn="l">
              <a:lnSpc>
                <a:spcPct val="100000"/>
              </a:lnSpc>
              <a:spcBef>
                <a:spcPts val="0"/>
              </a:spcBef>
              <a:spcAft>
                <a:spcPts val="0"/>
              </a:spcAft>
              <a:buClr>
                <a:srgbClr val="1A1D4A"/>
              </a:buClr>
              <a:buSzPts val="1100"/>
              <a:buFont typeface="Arial"/>
              <a:buNone/>
            </a:pPr>
            <a:r>
              <a:rPr lang="pt-BR" sz="1100">
                <a:solidFill>
                  <a:srgbClr val="1A1D4A"/>
                </a:solidFill>
                <a:latin typeface="Arial"/>
                <a:ea typeface="Arial"/>
                <a:cs typeface="Arial"/>
                <a:sym typeface="Arial"/>
              </a:rPr>
              <a:t>Nesse campo é importante que seja destacado o (s) conteúdo (s), que constam no escopo-sequência/ guia priorizado disponibilizados no Repositório do Centro de Mídias do Estado de São Paulo (CMSP)</a:t>
            </a:r>
            <a:endParaRPr b="1" sz="1400">
              <a:solidFill>
                <a:srgbClr val="1A1D4A"/>
              </a:solidFill>
              <a:latin typeface="Arial"/>
              <a:ea typeface="Arial"/>
              <a:cs typeface="Arial"/>
              <a:sym typeface="Arial"/>
            </a:endParaRPr>
          </a:p>
        </p:txBody>
      </p:sp>
      <p:sp>
        <p:nvSpPr>
          <p:cNvPr id="101" name="Google Shape;101;p17"/>
          <p:cNvSpPr txBox="1"/>
          <p:nvPr>
            <p:ph idx="1" type="body"/>
          </p:nvPr>
        </p:nvSpPr>
        <p:spPr>
          <a:xfrm>
            <a:off x="725370" y="1755863"/>
            <a:ext cx="7977188" cy="2673263"/>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rgbClr val="1A1D4A"/>
              </a:buClr>
              <a:buSzPts val="1400"/>
              <a:buFont typeface="Arial"/>
              <a:buNone/>
              <a:defRPr b="0" i="0" sz="1400" u="none" cap="none" strike="noStrike">
                <a:solidFill>
                  <a:srgbClr val="1A1D4A"/>
                </a:solidFill>
                <a:latin typeface="Poppins"/>
                <a:ea typeface="Poppins"/>
                <a:cs typeface="Poppins"/>
                <a:sym typeface="Poppins"/>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eriencia">
  <p:cSld name="Experiencia">
    <p:spTree>
      <p:nvGrpSpPr>
        <p:cNvPr id="102" name="Shape 102"/>
        <p:cNvGrpSpPr/>
        <p:nvPr/>
      </p:nvGrpSpPr>
      <p:grpSpPr>
        <a:xfrm>
          <a:off x="0" y="0"/>
          <a:ext cx="0" cy="0"/>
          <a:chOff x="0" y="0"/>
          <a:chExt cx="0" cy="0"/>
        </a:xfrm>
      </p:grpSpPr>
      <p:pic>
        <p:nvPicPr>
          <p:cNvPr descr="Forma&#10;&#10;O conteúdo gerado por IA pode estar incorreto." id="103" name="Google Shape;103;p18"/>
          <p:cNvPicPr preferRelativeResize="0"/>
          <p:nvPr/>
        </p:nvPicPr>
        <p:blipFill rotWithShape="1">
          <a:blip r:embed="rId2">
            <a:alphaModFix/>
          </a:blip>
          <a:srcRect b="0" l="0" r="0" t="0"/>
          <a:stretch/>
        </p:blipFill>
        <p:spPr>
          <a:xfrm>
            <a:off x="7783431" y="-4987"/>
            <a:ext cx="1360569" cy="1193323"/>
          </a:xfrm>
          <a:prstGeom prst="rect">
            <a:avLst/>
          </a:prstGeom>
          <a:noFill/>
          <a:ln>
            <a:noFill/>
          </a:ln>
        </p:spPr>
      </p:pic>
      <p:pic>
        <p:nvPicPr>
          <p:cNvPr descr="Forma&#10;&#10;O conteúdo gerado por IA pode estar incorreto." id="104" name="Google Shape;104;p18"/>
          <p:cNvPicPr preferRelativeResize="0"/>
          <p:nvPr/>
        </p:nvPicPr>
        <p:blipFill rotWithShape="1">
          <a:blip r:embed="rId2">
            <a:alphaModFix/>
          </a:blip>
          <a:srcRect b="0" l="0" r="0" t="0"/>
          <a:stretch/>
        </p:blipFill>
        <p:spPr>
          <a:xfrm>
            <a:off x="7783431" y="-4987"/>
            <a:ext cx="1360569" cy="1193323"/>
          </a:xfrm>
          <a:prstGeom prst="rect">
            <a:avLst/>
          </a:prstGeom>
          <a:noFill/>
          <a:ln>
            <a:noFill/>
          </a:ln>
        </p:spPr>
      </p:pic>
      <p:pic>
        <p:nvPicPr>
          <p:cNvPr descr="Texto, Logotipo&#10;&#10;O conteúdo gerado por IA pode estar incorreto." id="105" name="Google Shape;105;p18"/>
          <p:cNvPicPr preferRelativeResize="0"/>
          <p:nvPr/>
        </p:nvPicPr>
        <p:blipFill rotWithShape="1">
          <a:blip r:embed="rId3">
            <a:alphaModFix/>
          </a:blip>
          <a:srcRect b="0" l="0" r="0" t="0"/>
          <a:stretch/>
        </p:blipFill>
        <p:spPr>
          <a:xfrm>
            <a:off x="7508123" y="4610777"/>
            <a:ext cx="1484938" cy="474694"/>
          </a:xfrm>
          <a:prstGeom prst="rect">
            <a:avLst/>
          </a:prstGeom>
          <a:noFill/>
          <a:ln>
            <a:noFill/>
          </a:ln>
        </p:spPr>
      </p:pic>
      <p:sp>
        <p:nvSpPr>
          <p:cNvPr id="106" name="Google Shape;106;p18"/>
          <p:cNvSpPr/>
          <p:nvPr/>
        </p:nvSpPr>
        <p:spPr>
          <a:xfrm>
            <a:off x="441434" y="1152158"/>
            <a:ext cx="8442435" cy="3420091"/>
          </a:xfrm>
          <a:prstGeom prst="rect">
            <a:avLst/>
          </a:prstGeom>
          <a:solidFill>
            <a:srgbClr val="E3EAF0"/>
          </a:solidFill>
          <a:ln cap="flat" cmpd="sng" w="19050">
            <a:solidFill>
              <a:srgbClr val="ED586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descr="Forma&#10;&#10;O conteúdo gerado por IA pode estar incorreto." id="107" name="Google Shape;107;p18"/>
          <p:cNvPicPr preferRelativeResize="0"/>
          <p:nvPr/>
        </p:nvPicPr>
        <p:blipFill rotWithShape="1">
          <a:blip r:embed="rId4">
            <a:alphaModFix/>
          </a:blip>
          <a:srcRect b="0" l="0" r="0" t="0"/>
          <a:stretch/>
        </p:blipFill>
        <p:spPr>
          <a:xfrm>
            <a:off x="153775" y="920977"/>
            <a:ext cx="620638" cy="496684"/>
          </a:xfrm>
          <a:prstGeom prst="rect">
            <a:avLst/>
          </a:prstGeom>
          <a:noFill/>
          <a:ln>
            <a:noFill/>
          </a:ln>
        </p:spPr>
      </p:pic>
      <p:pic>
        <p:nvPicPr>
          <p:cNvPr descr="Forma&#10;&#10;O conteúdo gerado por IA pode estar incorreto." id="108" name="Google Shape;108;p18"/>
          <p:cNvPicPr preferRelativeResize="0"/>
          <p:nvPr/>
        </p:nvPicPr>
        <p:blipFill rotWithShape="1">
          <a:blip r:embed="rId5">
            <a:alphaModFix/>
          </a:blip>
          <a:srcRect b="0" l="0" r="0" t="0"/>
          <a:stretch/>
        </p:blipFill>
        <p:spPr>
          <a:xfrm>
            <a:off x="153775" y="4055053"/>
            <a:ext cx="783568" cy="1034392"/>
          </a:xfrm>
          <a:prstGeom prst="rect">
            <a:avLst/>
          </a:prstGeom>
          <a:noFill/>
          <a:ln>
            <a:noFill/>
          </a:ln>
        </p:spPr>
      </p:pic>
      <p:sp>
        <p:nvSpPr>
          <p:cNvPr id="109" name="Google Shape;109;p18"/>
          <p:cNvSpPr txBox="1"/>
          <p:nvPr/>
        </p:nvSpPr>
        <p:spPr>
          <a:xfrm>
            <a:off x="725370" y="184838"/>
            <a:ext cx="7693260" cy="900247"/>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FF0000"/>
              </a:buClr>
              <a:buSzPts val="2700"/>
              <a:buFont typeface="Arial"/>
              <a:buNone/>
            </a:pPr>
            <a:r>
              <a:rPr b="1" i="0" lang="pt-BR" sz="2700">
                <a:solidFill>
                  <a:srgbClr val="FF0000"/>
                </a:solidFill>
                <a:latin typeface="Poppins"/>
                <a:ea typeface="Poppins"/>
                <a:cs typeface="Poppins"/>
                <a:sym typeface="Poppins"/>
              </a:rPr>
              <a:t>SOCIALIZAÇÃO</a:t>
            </a:r>
            <a:r>
              <a:rPr b="0" i="0" lang="pt-BR" sz="2700">
                <a:solidFill>
                  <a:srgbClr val="1A1D4A"/>
                </a:solidFill>
                <a:latin typeface="Poppins"/>
                <a:ea typeface="Poppins"/>
                <a:cs typeface="Poppins"/>
                <a:sym typeface="Poppins"/>
              </a:rPr>
              <a:t> </a:t>
            </a:r>
            <a:r>
              <a:rPr b="1" i="0" lang="pt-BR" sz="2700">
                <a:solidFill>
                  <a:srgbClr val="1A1D4A"/>
                </a:solidFill>
                <a:latin typeface="Poppins"/>
                <a:ea typeface="Poppins"/>
                <a:cs typeface="Poppins"/>
                <a:sym typeface="Poppins"/>
              </a:rPr>
              <a:t>DE </a:t>
            </a:r>
            <a:endParaRPr sz="1100"/>
          </a:p>
          <a:p>
            <a:pPr indent="0" lvl="0" marL="0" marR="0" rtl="0" algn="ctr">
              <a:lnSpc>
                <a:spcPct val="100000"/>
              </a:lnSpc>
              <a:spcBef>
                <a:spcPts val="0"/>
              </a:spcBef>
              <a:spcAft>
                <a:spcPts val="0"/>
              </a:spcAft>
              <a:buClr>
                <a:srgbClr val="1A1D4A"/>
              </a:buClr>
              <a:buSzPts val="2700"/>
              <a:buFont typeface="Arial"/>
              <a:buNone/>
            </a:pPr>
            <a:r>
              <a:rPr b="1" i="0" lang="pt-BR" sz="2700">
                <a:solidFill>
                  <a:srgbClr val="1A1D4A"/>
                </a:solidFill>
                <a:latin typeface="Poppins"/>
                <a:ea typeface="Poppins"/>
                <a:cs typeface="Poppins"/>
                <a:sym typeface="Poppins"/>
              </a:rPr>
              <a:t>PRÁTICAS </a:t>
            </a:r>
            <a:r>
              <a:rPr b="1" i="0" lang="pt-BR" sz="2700">
                <a:solidFill>
                  <a:srgbClr val="FF0000"/>
                </a:solidFill>
                <a:latin typeface="Poppins"/>
                <a:ea typeface="Poppins"/>
                <a:cs typeface="Poppins"/>
                <a:sym typeface="Poppins"/>
              </a:rPr>
              <a:t>PEDAGÓGICAS</a:t>
            </a:r>
            <a:r>
              <a:rPr b="1" i="0" lang="pt-BR" sz="2700">
                <a:solidFill>
                  <a:srgbClr val="1A1D4A"/>
                </a:solidFill>
                <a:latin typeface="Poppins"/>
                <a:ea typeface="Poppins"/>
                <a:cs typeface="Poppins"/>
                <a:sym typeface="Poppins"/>
              </a:rPr>
              <a:t> </a:t>
            </a:r>
            <a:endParaRPr b="1" i="0" sz="2700">
              <a:solidFill>
                <a:srgbClr val="ED5860"/>
              </a:solidFill>
              <a:latin typeface="Poppins"/>
              <a:ea typeface="Poppins"/>
              <a:cs typeface="Poppins"/>
              <a:sym typeface="Poppins"/>
            </a:endParaRPr>
          </a:p>
        </p:txBody>
      </p:sp>
      <p:pic>
        <p:nvPicPr>
          <p:cNvPr descr="Forma&#10;&#10;O conteúdo gerado por IA pode estar incorreto." id="110" name="Google Shape;110;p18"/>
          <p:cNvPicPr preferRelativeResize="0"/>
          <p:nvPr/>
        </p:nvPicPr>
        <p:blipFill rotWithShape="1">
          <a:blip r:embed="rId5">
            <a:alphaModFix/>
          </a:blip>
          <a:srcRect b="0" l="0" r="0" t="0"/>
          <a:stretch/>
        </p:blipFill>
        <p:spPr>
          <a:xfrm rot="5400000">
            <a:off x="331732" y="-137667"/>
            <a:ext cx="1111868" cy="1467783"/>
          </a:xfrm>
          <a:prstGeom prst="rect">
            <a:avLst/>
          </a:prstGeom>
          <a:noFill/>
          <a:ln>
            <a:noFill/>
          </a:ln>
        </p:spPr>
      </p:pic>
      <p:sp>
        <p:nvSpPr>
          <p:cNvPr id="111" name="Google Shape;111;p18"/>
          <p:cNvSpPr txBox="1"/>
          <p:nvPr/>
        </p:nvSpPr>
        <p:spPr>
          <a:xfrm>
            <a:off x="725370" y="1152365"/>
            <a:ext cx="7977196" cy="276999"/>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1A1D4A"/>
              </a:buClr>
              <a:buSzPts val="1400"/>
              <a:buFont typeface="Poppins"/>
              <a:buNone/>
            </a:pPr>
            <a:r>
              <a:rPr b="1" lang="pt-BR" sz="1400">
                <a:solidFill>
                  <a:srgbClr val="1A1D4A"/>
                </a:solidFill>
                <a:latin typeface="Poppins"/>
                <a:ea typeface="Poppins"/>
                <a:cs typeface="Poppins"/>
                <a:sym typeface="Poppins"/>
              </a:rPr>
              <a:t>Descreva os resultados observados e o que você aprendeu com essa experiência.</a:t>
            </a:r>
            <a:endParaRPr sz="1100"/>
          </a:p>
        </p:txBody>
      </p:sp>
      <p:sp>
        <p:nvSpPr>
          <p:cNvPr id="112" name="Google Shape;112;p18"/>
          <p:cNvSpPr txBox="1"/>
          <p:nvPr>
            <p:ph idx="1" type="body"/>
          </p:nvPr>
        </p:nvSpPr>
        <p:spPr>
          <a:xfrm>
            <a:off x="725370" y="1417661"/>
            <a:ext cx="7977188" cy="3011464"/>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rgbClr val="1A1D4A"/>
              </a:buClr>
              <a:buSzPts val="1400"/>
              <a:buFont typeface="Arial"/>
              <a:buNone/>
              <a:defRPr b="0" i="0" sz="1400" u="none" cap="none" strike="noStrike">
                <a:solidFill>
                  <a:srgbClr val="1A1D4A"/>
                </a:solidFill>
                <a:latin typeface="Poppins"/>
                <a:ea typeface="Poppins"/>
                <a:cs typeface="Poppins"/>
                <a:sym typeface="Poppins"/>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abeçalho da Seção">
  <p:cSld name="8_Cabeçalho da Seção">
    <p:spTree>
      <p:nvGrpSpPr>
        <p:cNvPr id="113" name="Shape 113"/>
        <p:cNvGrpSpPr/>
        <p:nvPr/>
      </p:nvGrpSpPr>
      <p:grpSpPr>
        <a:xfrm>
          <a:off x="0" y="0"/>
          <a:ext cx="0" cy="0"/>
          <a:chOff x="0" y="0"/>
          <a:chExt cx="0" cy="0"/>
        </a:xfrm>
      </p:grpSpPr>
      <p:sp>
        <p:nvSpPr>
          <p:cNvPr id="114" name="Google Shape;114;p19"/>
          <p:cNvSpPr/>
          <p:nvPr/>
        </p:nvSpPr>
        <p:spPr>
          <a:xfrm>
            <a:off x="-318504" y="0"/>
            <a:ext cx="9455668" cy="5287879"/>
          </a:xfrm>
          <a:prstGeom prst="rect">
            <a:avLst/>
          </a:prstGeom>
          <a:solidFill>
            <a:srgbClr val="E3EA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descr="Forma&#10;&#10;O conteúdo gerado por IA pode estar incorreto." id="115" name="Google Shape;115;p19"/>
          <p:cNvPicPr preferRelativeResize="0"/>
          <p:nvPr/>
        </p:nvPicPr>
        <p:blipFill rotWithShape="1">
          <a:blip r:embed="rId2">
            <a:alphaModFix/>
          </a:blip>
          <a:srcRect b="0" l="0" r="0" t="0"/>
          <a:stretch/>
        </p:blipFill>
        <p:spPr>
          <a:xfrm rot="-5400000">
            <a:off x="7488289" y="120958"/>
            <a:ext cx="1968021" cy="1726105"/>
          </a:xfrm>
          <a:prstGeom prst="rect">
            <a:avLst/>
          </a:prstGeom>
          <a:noFill/>
          <a:ln>
            <a:noFill/>
          </a:ln>
        </p:spPr>
      </p:pic>
      <p:pic>
        <p:nvPicPr>
          <p:cNvPr descr="Forma&#10;&#10;O conteúdo gerado por IA pode estar incorreto." id="116" name="Google Shape;116;p19"/>
          <p:cNvPicPr preferRelativeResize="0"/>
          <p:nvPr/>
        </p:nvPicPr>
        <p:blipFill rotWithShape="1">
          <a:blip r:embed="rId3">
            <a:alphaModFix/>
          </a:blip>
          <a:srcRect b="0" l="0" r="0" t="0"/>
          <a:stretch/>
        </p:blipFill>
        <p:spPr>
          <a:xfrm rot="5400000">
            <a:off x="-247237" y="3434852"/>
            <a:ext cx="1962721" cy="1454573"/>
          </a:xfrm>
          <a:prstGeom prst="rect">
            <a:avLst/>
          </a:prstGeom>
          <a:noFill/>
          <a:ln>
            <a:noFill/>
          </a:ln>
        </p:spPr>
      </p:pic>
      <p:pic>
        <p:nvPicPr>
          <p:cNvPr descr="Forma&#10;&#10;Descrição gerada automaticamente com confiança média" id="117" name="Google Shape;117;p19"/>
          <p:cNvPicPr preferRelativeResize="0"/>
          <p:nvPr/>
        </p:nvPicPr>
        <p:blipFill rotWithShape="1">
          <a:blip r:embed="rId4">
            <a:alphaModFix/>
          </a:blip>
          <a:srcRect b="0" l="0" r="0" t="0"/>
          <a:stretch/>
        </p:blipFill>
        <p:spPr>
          <a:xfrm>
            <a:off x="4373843" y="4510070"/>
            <a:ext cx="2565280" cy="633430"/>
          </a:xfrm>
          <a:prstGeom prst="rect">
            <a:avLst/>
          </a:prstGeom>
          <a:noFill/>
          <a:ln>
            <a:noFill/>
          </a:ln>
        </p:spPr>
      </p:pic>
      <p:pic>
        <p:nvPicPr>
          <p:cNvPr descr="Forma&#10;&#10;Descrição gerada automaticamente com confiança média" id="118" name="Google Shape;118;p19"/>
          <p:cNvPicPr preferRelativeResize="0"/>
          <p:nvPr/>
        </p:nvPicPr>
        <p:blipFill rotWithShape="1">
          <a:blip r:embed="rId5">
            <a:alphaModFix/>
          </a:blip>
          <a:srcRect b="0" l="0" r="0" t="0"/>
          <a:stretch/>
        </p:blipFill>
        <p:spPr>
          <a:xfrm>
            <a:off x="2959073" y="4524216"/>
            <a:ext cx="1507288" cy="480011"/>
          </a:xfrm>
          <a:prstGeom prst="rect">
            <a:avLst/>
          </a:prstGeom>
          <a:noFill/>
          <a:ln>
            <a:noFill/>
          </a:ln>
        </p:spPr>
      </p:pic>
      <p:pic>
        <p:nvPicPr>
          <p:cNvPr descr="Texto, Logotipo&#10;&#10;O conteúdo gerado por IA pode estar incorreto." id="119" name="Google Shape;119;p19"/>
          <p:cNvPicPr preferRelativeResize="0"/>
          <p:nvPr/>
        </p:nvPicPr>
        <p:blipFill rotWithShape="1">
          <a:blip r:embed="rId6">
            <a:alphaModFix/>
          </a:blip>
          <a:srcRect b="0" l="0" r="0" t="0"/>
          <a:stretch/>
        </p:blipFill>
        <p:spPr>
          <a:xfrm>
            <a:off x="1364801" y="1530379"/>
            <a:ext cx="6561633" cy="209757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p:cSld name="Cabeçalho da Seção">
    <p:spTree>
      <p:nvGrpSpPr>
        <p:cNvPr id="120" name="Shape 120"/>
        <p:cNvGrpSpPr/>
        <p:nvPr/>
      </p:nvGrpSpPr>
      <p:grpSpPr>
        <a:xfrm>
          <a:off x="0" y="0"/>
          <a:ext cx="0" cy="0"/>
          <a:chOff x="0" y="0"/>
          <a:chExt cx="0" cy="0"/>
        </a:xfrm>
      </p:grpSpPr>
      <p:sp>
        <p:nvSpPr>
          <p:cNvPr id="121" name="Google Shape;121;p20"/>
          <p:cNvSpPr/>
          <p:nvPr/>
        </p:nvSpPr>
        <p:spPr>
          <a:xfrm>
            <a:off x="1357728" y="1152158"/>
            <a:ext cx="3318584" cy="3193256"/>
          </a:xfrm>
          <a:prstGeom prst="rect">
            <a:avLst/>
          </a:prstGeom>
          <a:solidFill>
            <a:srgbClr val="E3EAF0"/>
          </a:solidFill>
          <a:ln cap="flat" cmpd="sng" w="19050">
            <a:solidFill>
              <a:srgbClr val="ED586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descr="Forma&#10;&#10;O conteúdo gerado por IA pode estar incorreto." id="122" name="Google Shape;122;p20"/>
          <p:cNvPicPr preferRelativeResize="0"/>
          <p:nvPr/>
        </p:nvPicPr>
        <p:blipFill rotWithShape="1">
          <a:blip r:embed="rId2">
            <a:alphaModFix/>
          </a:blip>
          <a:srcRect b="0" l="0" r="0" t="0"/>
          <a:stretch/>
        </p:blipFill>
        <p:spPr>
          <a:xfrm>
            <a:off x="130832" y="2748786"/>
            <a:ext cx="854513" cy="1128047"/>
          </a:xfrm>
          <a:prstGeom prst="rect">
            <a:avLst/>
          </a:prstGeom>
          <a:noFill/>
          <a:ln>
            <a:noFill/>
          </a:ln>
        </p:spPr>
      </p:pic>
      <p:pic>
        <p:nvPicPr>
          <p:cNvPr descr="Forma&#10;&#10;O conteúdo gerado por IA pode estar incorreto." id="123" name="Google Shape;123;p20"/>
          <p:cNvPicPr preferRelativeResize="0"/>
          <p:nvPr/>
        </p:nvPicPr>
        <p:blipFill rotWithShape="1">
          <a:blip r:embed="rId2">
            <a:alphaModFix/>
          </a:blip>
          <a:srcRect b="0" l="0" r="0" t="0"/>
          <a:stretch/>
        </p:blipFill>
        <p:spPr>
          <a:xfrm>
            <a:off x="120116" y="3775867"/>
            <a:ext cx="854513" cy="1128047"/>
          </a:xfrm>
          <a:prstGeom prst="rect">
            <a:avLst/>
          </a:prstGeom>
          <a:noFill/>
          <a:ln>
            <a:noFill/>
          </a:ln>
        </p:spPr>
      </p:pic>
      <p:sp>
        <p:nvSpPr>
          <p:cNvPr id="124" name="Google Shape;124;p20"/>
          <p:cNvSpPr/>
          <p:nvPr/>
        </p:nvSpPr>
        <p:spPr>
          <a:xfrm>
            <a:off x="4793871" y="1159291"/>
            <a:ext cx="3842560" cy="3193256"/>
          </a:xfrm>
          <a:prstGeom prst="rect">
            <a:avLst/>
          </a:prstGeom>
          <a:solidFill>
            <a:srgbClr val="E3EAF0"/>
          </a:solidFill>
          <a:ln cap="flat" cmpd="sng" w="19050">
            <a:solidFill>
              <a:srgbClr val="ED586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descr="Forma&#10;&#10;O conteúdo gerado por IA pode estar incorreto." id="125" name="Google Shape;125;p20"/>
          <p:cNvPicPr preferRelativeResize="0"/>
          <p:nvPr/>
        </p:nvPicPr>
        <p:blipFill rotWithShape="1">
          <a:blip r:embed="rId3">
            <a:alphaModFix/>
          </a:blip>
          <a:srcRect b="0" l="0" r="0" t="0"/>
          <a:stretch/>
        </p:blipFill>
        <p:spPr>
          <a:xfrm>
            <a:off x="7783431" y="-4987"/>
            <a:ext cx="1360569" cy="1193323"/>
          </a:xfrm>
          <a:prstGeom prst="rect">
            <a:avLst/>
          </a:prstGeom>
          <a:noFill/>
          <a:ln>
            <a:noFill/>
          </a:ln>
        </p:spPr>
      </p:pic>
      <p:pic>
        <p:nvPicPr>
          <p:cNvPr descr="Texto, Logotipo&#10;&#10;O conteúdo gerado por IA pode estar incorreto." id="126" name="Google Shape;126;p20"/>
          <p:cNvPicPr preferRelativeResize="0"/>
          <p:nvPr/>
        </p:nvPicPr>
        <p:blipFill rotWithShape="1">
          <a:blip r:embed="rId4">
            <a:alphaModFix/>
          </a:blip>
          <a:srcRect b="0" l="0" r="0" t="0"/>
          <a:stretch/>
        </p:blipFill>
        <p:spPr>
          <a:xfrm>
            <a:off x="6715151" y="4421762"/>
            <a:ext cx="2014043" cy="643834"/>
          </a:xfrm>
          <a:prstGeom prst="rect">
            <a:avLst/>
          </a:prstGeom>
          <a:noFill/>
          <a:ln>
            <a:noFill/>
          </a:ln>
        </p:spPr>
      </p:pic>
      <p:sp>
        <p:nvSpPr>
          <p:cNvPr id="127" name="Google Shape;127;p20"/>
          <p:cNvSpPr txBox="1"/>
          <p:nvPr>
            <p:ph idx="1" type="body"/>
          </p:nvPr>
        </p:nvSpPr>
        <p:spPr>
          <a:xfrm>
            <a:off x="1469669" y="1378993"/>
            <a:ext cx="2653181" cy="6858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rgbClr val="1A1D4A"/>
              </a:buClr>
              <a:buSzPts val="1500"/>
              <a:buFont typeface="Arial"/>
              <a:buNone/>
              <a:defRPr b="0" i="0" sz="1500" u="none" cap="none" strike="noStrike">
                <a:solidFill>
                  <a:srgbClr val="1A1D4A"/>
                </a:solidFill>
                <a:latin typeface="Helvetica Neue Light"/>
                <a:ea typeface="Helvetica Neue Light"/>
                <a:cs typeface="Helvetica Neue Light"/>
                <a:sym typeface="Helvetica Neue Light"/>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8" name="Google Shape;128;p20"/>
          <p:cNvSpPr txBox="1"/>
          <p:nvPr>
            <p:ph idx="2" type="body"/>
          </p:nvPr>
        </p:nvSpPr>
        <p:spPr>
          <a:xfrm>
            <a:off x="4910444" y="1378993"/>
            <a:ext cx="2653181" cy="6858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rgbClr val="1A1D4A"/>
              </a:buClr>
              <a:buSzPts val="1500"/>
              <a:buFont typeface="Arial"/>
              <a:buNone/>
              <a:defRPr b="0" i="0" sz="1500" u="none" cap="none" strike="noStrike">
                <a:solidFill>
                  <a:srgbClr val="1A1D4A"/>
                </a:solidFill>
                <a:latin typeface="Helvetica Neue Light"/>
                <a:ea typeface="Helvetica Neue Light"/>
                <a:cs typeface="Helvetica Neue Light"/>
                <a:sym typeface="Helvetica Neue Light"/>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pic>
        <p:nvPicPr>
          <p:cNvPr descr="Forma&#10;&#10;O conteúdo gerado por IA pode estar incorreto." id="129" name="Google Shape;129;p20"/>
          <p:cNvPicPr preferRelativeResize="0"/>
          <p:nvPr/>
        </p:nvPicPr>
        <p:blipFill rotWithShape="1">
          <a:blip r:embed="rId5">
            <a:alphaModFix/>
          </a:blip>
          <a:srcRect b="0" l="0" r="0" t="0"/>
          <a:stretch/>
        </p:blipFill>
        <p:spPr>
          <a:xfrm>
            <a:off x="1101836" y="882308"/>
            <a:ext cx="620638" cy="496684"/>
          </a:xfrm>
          <a:prstGeom prst="rect">
            <a:avLst/>
          </a:prstGeom>
          <a:noFill/>
          <a:ln>
            <a:noFill/>
          </a:ln>
        </p:spPr>
      </p:pic>
      <p:pic>
        <p:nvPicPr>
          <p:cNvPr descr="Ícone&#10;&#10;O conteúdo gerado por IA pode estar incorreto." id="130" name="Google Shape;130;p20"/>
          <p:cNvPicPr preferRelativeResize="0"/>
          <p:nvPr/>
        </p:nvPicPr>
        <p:blipFill rotWithShape="1">
          <a:blip r:embed="rId6">
            <a:alphaModFix/>
          </a:blip>
          <a:srcRect b="0" l="0" r="0" t="0"/>
          <a:stretch/>
        </p:blipFill>
        <p:spPr>
          <a:xfrm>
            <a:off x="120116" y="109233"/>
            <a:ext cx="687956" cy="589184"/>
          </a:xfrm>
          <a:prstGeom prst="rect">
            <a:avLst/>
          </a:prstGeom>
          <a:noFill/>
          <a:ln>
            <a:noFill/>
          </a:ln>
        </p:spPr>
      </p:pic>
      <p:sp>
        <p:nvSpPr>
          <p:cNvPr id="131" name="Google Shape;131;p20"/>
          <p:cNvSpPr txBox="1"/>
          <p:nvPr/>
        </p:nvSpPr>
        <p:spPr>
          <a:xfrm>
            <a:off x="808072" y="196508"/>
            <a:ext cx="4577316" cy="484748"/>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1A1D4A"/>
              </a:buClr>
              <a:buSzPts val="2700"/>
              <a:buFont typeface="Arial"/>
              <a:buNone/>
            </a:pPr>
            <a:r>
              <a:rPr b="0" i="0" lang="pt-BR" sz="2700">
                <a:solidFill>
                  <a:srgbClr val="1A1D4A"/>
                </a:solidFill>
                <a:latin typeface="Poppins ExtraLight"/>
                <a:ea typeface="Poppins ExtraLight"/>
                <a:cs typeface="Poppins ExtraLight"/>
                <a:sym typeface="Poppins ExtraLight"/>
              </a:rPr>
              <a:t>ORIENTAÇÕES</a:t>
            </a:r>
            <a:r>
              <a:rPr lang="pt-BR" sz="2700">
                <a:solidFill>
                  <a:srgbClr val="1A1D4A"/>
                </a:solidFill>
                <a:latin typeface="Poppins"/>
                <a:ea typeface="Poppins"/>
                <a:cs typeface="Poppins"/>
                <a:sym typeface="Poppins"/>
              </a:rPr>
              <a:t> </a:t>
            </a:r>
            <a:r>
              <a:rPr b="1" i="0" lang="pt-BR" sz="2700">
                <a:solidFill>
                  <a:srgbClr val="ED5860"/>
                </a:solidFill>
                <a:latin typeface="Poppins"/>
                <a:ea typeface="Poppins"/>
                <a:cs typeface="Poppins"/>
                <a:sym typeface="Poppins"/>
              </a:rPr>
              <a:t>GERAIS</a:t>
            </a:r>
            <a:endParaRPr sz="110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nvSpPr>
        <p:spPr>
          <a:xfrm>
            <a:off x="958241" y="620039"/>
            <a:ext cx="4246323" cy="267743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1888151" y="1750890"/>
            <a:ext cx="5806820" cy="837984"/>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rgbClr val="1A1D4A"/>
              </a:buClr>
              <a:buSzPts val="2700"/>
              <a:buFont typeface="Helvetica Neue"/>
              <a:buNone/>
            </a:pPr>
            <a:r>
              <a:rPr lang="pt-BR"/>
              <a:t>Integração Contínua (CI)</a:t>
            </a:r>
            <a:endParaRPr/>
          </a:p>
        </p:txBody>
      </p:sp>
      <p:sp>
        <p:nvSpPr>
          <p:cNvPr id="137" name="Google Shape;137;p21"/>
          <p:cNvSpPr txBox="1"/>
          <p:nvPr>
            <p:ph idx="1" type="body"/>
          </p:nvPr>
        </p:nvSpPr>
        <p:spPr>
          <a:xfrm>
            <a:off x="1879860" y="2675689"/>
            <a:ext cx="4496991" cy="479822"/>
          </a:xfrm>
          <a:prstGeom prst="rect">
            <a:avLst/>
          </a:prstGeom>
          <a:noFill/>
          <a:ln>
            <a:noFill/>
          </a:ln>
        </p:spPr>
        <p:txBody>
          <a:bodyPr anchorCtr="0" anchor="t" bIns="34275" lIns="68575" spcFirstLastPara="1" rIns="68575" wrap="square" tIns="34275">
            <a:noAutofit/>
          </a:bodyPr>
          <a:lstStyle/>
          <a:p>
            <a:pPr indent="-177800" lvl="0" marL="177800" rtl="0" algn="l">
              <a:lnSpc>
                <a:spcPct val="90000"/>
              </a:lnSpc>
              <a:spcBef>
                <a:spcPts val="0"/>
              </a:spcBef>
              <a:spcAft>
                <a:spcPts val="0"/>
              </a:spcAft>
              <a:buClr>
                <a:srgbClr val="1A1D4A"/>
              </a:buClr>
              <a:buSzPts val="2100"/>
              <a:buNone/>
            </a:pPr>
            <a:r>
              <a:rPr lang="pt-BR"/>
              <a:t>Versionamento de C</a:t>
            </a:r>
            <a:r>
              <a:rPr lang="pt-BR"/>
              <a:t>ódigos</a:t>
            </a:r>
            <a:endParaRPr/>
          </a:p>
        </p:txBody>
      </p:sp>
      <p:sp>
        <p:nvSpPr>
          <p:cNvPr id="138" name="Google Shape;138;p21"/>
          <p:cNvSpPr txBox="1"/>
          <p:nvPr>
            <p:ph idx="2" type="body"/>
          </p:nvPr>
        </p:nvSpPr>
        <p:spPr>
          <a:xfrm>
            <a:off x="1880000" y="3264700"/>
            <a:ext cx="6670500" cy="479700"/>
          </a:xfrm>
          <a:prstGeom prst="rect">
            <a:avLst/>
          </a:prstGeom>
          <a:noFill/>
          <a:ln>
            <a:noFill/>
          </a:ln>
        </p:spPr>
        <p:txBody>
          <a:bodyPr anchorCtr="0" anchor="t" bIns="34275" lIns="68575" spcFirstLastPara="1" rIns="68575" wrap="square" tIns="34275">
            <a:noAutofit/>
          </a:bodyPr>
          <a:lstStyle/>
          <a:p>
            <a:pPr indent="-177800" lvl="0" marL="177800" rtl="0" algn="l">
              <a:lnSpc>
                <a:spcPct val="90000"/>
              </a:lnSpc>
              <a:spcBef>
                <a:spcPts val="0"/>
              </a:spcBef>
              <a:spcAft>
                <a:spcPts val="0"/>
              </a:spcAft>
              <a:buClr>
                <a:srgbClr val="1A1D4A"/>
              </a:buClr>
              <a:buSzPts val="2100"/>
              <a:buNone/>
            </a:pPr>
            <a:r>
              <a:rPr lang="pt-BR"/>
              <a:t>Novo Ensino M</a:t>
            </a:r>
            <a:r>
              <a:rPr lang="pt-BR"/>
              <a:t>édio com Habilitação  Profissional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idx="1" type="body"/>
          </p:nvPr>
        </p:nvSpPr>
        <p:spPr>
          <a:xfrm>
            <a:off x="2614612" y="1285206"/>
            <a:ext cx="6102894" cy="272500"/>
          </a:xfrm>
          <a:prstGeom prst="rect">
            <a:avLst/>
          </a:prstGeom>
          <a:noFill/>
          <a:ln>
            <a:noFill/>
          </a:ln>
        </p:spPr>
        <p:txBody>
          <a:bodyPr anchorCtr="0" anchor="t" bIns="34275" lIns="68575" spcFirstLastPara="1" rIns="68575" wrap="square" tIns="34275">
            <a:noAutofit/>
          </a:bodyPr>
          <a:lstStyle/>
          <a:p>
            <a:pPr indent="-177800" lvl="0" marL="177800" rtl="0" algn="l">
              <a:lnSpc>
                <a:spcPct val="90000"/>
              </a:lnSpc>
              <a:spcBef>
                <a:spcPts val="0"/>
              </a:spcBef>
              <a:spcAft>
                <a:spcPts val="0"/>
              </a:spcAft>
              <a:buClr>
                <a:schemeClr val="dk1"/>
              </a:buClr>
              <a:buSzPts val="1200"/>
              <a:buNone/>
            </a:pPr>
            <a:r>
              <a:rPr lang="pt-BR"/>
              <a:t>Adriano Justino Rosa</a:t>
            </a:r>
            <a:endParaRPr/>
          </a:p>
        </p:txBody>
      </p:sp>
      <p:sp>
        <p:nvSpPr>
          <p:cNvPr id="145" name="Google Shape;145;p22"/>
          <p:cNvSpPr txBox="1"/>
          <p:nvPr>
            <p:ph idx="2" type="body"/>
          </p:nvPr>
        </p:nvSpPr>
        <p:spPr>
          <a:xfrm>
            <a:off x="2072172" y="1893267"/>
            <a:ext cx="6645334" cy="243470"/>
          </a:xfrm>
          <a:prstGeom prst="rect">
            <a:avLst/>
          </a:prstGeom>
          <a:noFill/>
          <a:ln>
            <a:noFill/>
          </a:ln>
        </p:spPr>
        <p:txBody>
          <a:bodyPr anchorCtr="0" anchor="t" bIns="34275" lIns="68575" spcFirstLastPara="1" rIns="68575" wrap="square" tIns="34275">
            <a:noAutofit/>
          </a:bodyPr>
          <a:lstStyle/>
          <a:p>
            <a:pPr indent="-177800" lvl="0" marL="177800" rtl="0" algn="l">
              <a:lnSpc>
                <a:spcPct val="90000"/>
              </a:lnSpc>
              <a:spcBef>
                <a:spcPts val="0"/>
              </a:spcBef>
              <a:spcAft>
                <a:spcPts val="0"/>
              </a:spcAft>
              <a:buClr>
                <a:schemeClr val="dk1"/>
              </a:buClr>
              <a:buSzPts val="1200"/>
              <a:buNone/>
            </a:pPr>
            <a:r>
              <a:rPr lang="pt-BR"/>
              <a:t>Antonio Reginato Prof</a:t>
            </a:r>
            <a:endParaRPr/>
          </a:p>
        </p:txBody>
      </p:sp>
      <p:sp>
        <p:nvSpPr>
          <p:cNvPr id="146" name="Google Shape;146;p22"/>
          <p:cNvSpPr txBox="1"/>
          <p:nvPr>
            <p:ph idx="3" type="body"/>
          </p:nvPr>
        </p:nvSpPr>
        <p:spPr>
          <a:xfrm>
            <a:off x="3045779" y="2475058"/>
            <a:ext cx="5671727" cy="243470"/>
          </a:xfrm>
          <a:prstGeom prst="rect">
            <a:avLst/>
          </a:prstGeom>
          <a:noFill/>
          <a:ln>
            <a:noFill/>
          </a:ln>
        </p:spPr>
        <p:txBody>
          <a:bodyPr anchorCtr="0" anchor="t" bIns="34275" lIns="68575" spcFirstLastPara="1" rIns="68575" wrap="square" tIns="34275">
            <a:noAutofit/>
          </a:bodyPr>
          <a:lstStyle/>
          <a:p>
            <a:pPr indent="-177800" lvl="0" marL="177800" rtl="0" algn="l">
              <a:lnSpc>
                <a:spcPct val="90000"/>
              </a:lnSpc>
              <a:spcBef>
                <a:spcPts val="0"/>
              </a:spcBef>
              <a:spcAft>
                <a:spcPts val="0"/>
              </a:spcAft>
              <a:buClr>
                <a:schemeClr val="dk1"/>
              </a:buClr>
              <a:buSzPts val="1200"/>
              <a:buNone/>
            </a:pPr>
            <a:r>
              <a:rPr lang="pt-BR"/>
              <a:t>Mar</a:t>
            </a:r>
            <a:r>
              <a:rPr lang="pt-BR"/>
              <a:t>ília</a:t>
            </a:r>
            <a:endParaRPr/>
          </a:p>
        </p:txBody>
      </p:sp>
      <p:sp>
        <p:nvSpPr>
          <p:cNvPr id="147" name="Google Shape;147;p22"/>
          <p:cNvSpPr txBox="1"/>
          <p:nvPr>
            <p:ph idx="4" type="body"/>
          </p:nvPr>
        </p:nvSpPr>
        <p:spPr>
          <a:xfrm>
            <a:off x="2247329" y="3056849"/>
            <a:ext cx="6470177" cy="243470"/>
          </a:xfrm>
          <a:prstGeom prst="rect">
            <a:avLst/>
          </a:prstGeom>
          <a:noFill/>
          <a:ln>
            <a:noFill/>
          </a:ln>
        </p:spPr>
        <p:txBody>
          <a:bodyPr anchorCtr="0" anchor="t" bIns="34275" lIns="68575" spcFirstLastPara="1" rIns="68575" wrap="square" tIns="34275">
            <a:noAutofit/>
          </a:bodyPr>
          <a:lstStyle/>
          <a:p>
            <a:pPr indent="-177800" lvl="0" marL="177800" rtl="0" algn="l">
              <a:lnSpc>
                <a:spcPct val="90000"/>
              </a:lnSpc>
              <a:spcBef>
                <a:spcPts val="0"/>
              </a:spcBef>
              <a:spcAft>
                <a:spcPts val="0"/>
              </a:spcAft>
              <a:buClr>
                <a:schemeClr val="dk1"/>
              </a:buClr>
              <a:buSzPts val="1200"/>
              <a:buNone/>
            </a:pPr>
            <a:r>
              <a:rPr lang="pt-BR"/>
              <a:t>3A</a:t>
            </a:r>
            <a:endParaRPr/>
          </a:p>
        </p:txBody>
      </p:sp>
      <p:sp>
        <p:nvSpPr>
          <p:cNvPr id="148" name="Google Shape;148;p22"/>
          <p:cNvSpPr txBox="1"/>
          <p:nvPr>
            <p:ph idx="5" type="body"/>
          </p:nvPr>
        </p:nvSpPr>
        <p:spPr>
          <a:xfrm>
            <a:off x="2170053" y="3679717"/>
            <a:ext cx="6547453" cy="368192"/>
          </a:xfrm>
          <a:prstGeom prst="rect">
            <a:avLst/>
          </a:prstGeom>
          <a:noFill/>
          <a:ln>
            <a:noFill/>
          </a:ln>
        </p:spPr>
        <p:txBody>
          <a:bodyPr anchorCtr="0" anchor="t" bIns="34275" lIns="68575" spcFirstLastPara="1" rIns="68575" wrap="square" tIns="34275">
            <a:noAutofit/>
          </a:bodyPr>
          <a:lstStyle/>
          <a:p>
            <a:pPr indent="-177800" lvl="0" marL="177800" rtl="0" algn="l">
              <a:lnSpc>
                <a:spcPct val="90000"/>
              </a:lnSpc>
              <a:spcBef>
                <a:spcPts val="0"/>
              </a:spcBef>
              <a:spcAft>
                <a:spcPts val="0"/>
              </a:spcAft>
              <a:buClr>
                <a:schemeClr val="dk1"/>
              </a:buClr>
              <a:buSzPts val="1200"/>
              <a:buNone/>
            </a:pPr>
            <a:r>
              <a:rPr lang="pt-BR"/>
              <a:t>Desenvolvimento de Sistemas</a:t>
            </a:r>
            <a:endParaRPr/>
          </a:p>
        </p:txBody>
      </p:sp>
      <p:sp>
        <p:nvSpPr>
          <p:cNvPr id="149" name="Google Shape;149;p22"/>
          <p:cNvSpPr txBox="1"/>
          <p:nvPr>
            <p:ph idx="6" type="body"/>
          </p:nvPr>
        </p:nvSpPr>
        <p:spPr>
          <a:xfrm>
            <a:off x="3196656" y="4253702"/>
            <a:ext cx="5520851" cy="417616"/>
          </a:xfrm>
          <a:prstGeom prst="rect">
            <a:avLst/>
          </a:prstGeom>
          <a:noFill/>
          <a:ln>
            <a:noFill/>
          </a:ln>
        </p:spPr>
        <p:txBody>
          <a:bodyPr anchorCtr="0" anchor="t" bIns="34275" lIns="68575" spcFirstLastPara="1" rIns="68575" wrap="square" tIns="34275">
            <a:noAutofit/>
          </a:bodyPr>
          <a:lstStyle/>
          <a:p>
            <a:pPr indent="-177800" lvl="0" marL="177800" rtl="0" algn="l">
              <a:lnSpc>
                <a:spcPct val="90000"/>
              </a:lnSpc>
              <a:spcBef>
                <a:spcPts val="0"/>
              </a:spcBef>
              <a:spcAft>
                <a:spcPts val="0"/>
              </a:spcAft>
              <a:buClr>
                <a:schemeClr val="dk1"/>
              </a:buClr>
              <a:buSzPts val="1200"/>
              <a:buNone/>
            </a:pPr>
            <a:r>
              <a:rPr lang="pt-BR"/>
              <a:t>Programaç</a:t>
            </a:r>
            <a:r>
              <a:rPr lang="pt-BR"/>
              <a:t>ão Backend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ph idx="1" type="body"/>
          </p:nvPr>
        </p:nvSpPr>
        <p:spPr>
          <a:xfrm>
            <a:off x="725370" y="1821224"/>
            <a:ext cx="7977188" cy="2607902"/>
          </a:xfrm>
          <a:prstGeom prst="rect">
            <a:avLst/>
          </a:prstGeom>
          <a:noFill/>
          <a:ln>
            <a:noFill/>
          </a:ln>
        </p:spPr>
        <p:txBody>
          <a:bodyPr anchorCtr="0" anchor="t" bIns="34275" lIns="68575" spcFirstLastPara="1" rIns="68575" wrap="square" tIns="34275">
            <a:noAutofit/>
          </a:bodyPr>
          <a:lstStyle/>
          <a:p>
            <a:pPr indent="-177800" lvl="0" marL="177800" rtl="0" algn="l">
              <a:lnSpc>
                <a:spcPct val="90000"/>
              </a:lnSpc>
              <a:spcBef>
                <a:spcPts val="0"/>
              </a:spcBef>
              <a:spcAft>
                <a:spcPts val="0"/>
              </a:spcAft>
              <a:buClr>
                <a:srgbClr val="1A1D4A"/>
              </a:buClr>
              <a:buSzPts val="1400"/>
              <a:buNone/>
            </a:pPr>
            <a:r>
              <a:rPr lang="pt-BR"/>
              <a:t>A atividade utilizou 12 blocos físicos para formar um quadro vazado com dimensão de 18 x 20 cm, como forma de representar, de maneira concreta, uma aplicação com os modulos de frontend contendo tela de login  modulo mobile e o Backend. </a:t>
            </a:r>
            <a:br>
              <a:rPr lang="pt-BR"/>
            </a:br>
            <a:r>
              <a:rPr lang="pt-BR"/>
              <a:t>Em vez de trabalhar apenas com códigos, logs ou mensagens de erro abstratas, o aluno passa a visualizar os conceitos de Engenharia de Software por meio da manipulação dos objetos e da organização no espaço físico.</a:t>
            </a:r>
            <a:endParaRPr/>
          </a:p>
          <a:p>
            <a:pPr indent="-177800" lvl="0" marL="177800" rtl="0" algn="l">
              <a:lnSpc>
                <a:spcPct val="90000"/>
              </a:lnSpc>
              <a:spcBef>
                <a:spcPts val="0"/>
              </a:spcBef>
              <a:spcAft>
                <a:spcPts val="0"/>
              </a:spcAft>
              <a:buClr>
                <a:srgbClr val="1A1D4A"/>
              </a:buClr>
              <a:buSzPts val="1400"/>
              <a:buNone/>
            </a:pPr>
            <a:r>
              <a:t/>
            </a:r>
            <a:endParaRPr/>
          </a:p>
          <a:p>
            <a:pPr indent="-177800" lvl="0" marL="177800" rtl="0" algn="l">
              <a:lnSpc>
                <a:spcPct val="90000"/>
              </a:lnSpc>
              <a:spcBef>
                <a:spcPts val="0"/>
              </a:spcBef>
              <a:spcAft>
                <a:spcPts val="0"/>
              </a:spcAft>
              <a:buClr>
                <a:srgbClr val="1A1D4A"/>
              </a:buClr>
              <a:buSzPts val="1400"/>
              <a:buNone/>
            </a:pPr>
            <a:r>
              <a:rPr lang="pt-BR"/>
              <a:t>Na prática, a dinâmica procura aproximar situações comuns do desenvolvimento de software ao contexto da sala de aula. Os estudantes percebem que pequenas falhas de alinhamento entre as equipes já são suficientes para comprometer o resultado final da integração.</a:t>
            </a:r>
            <a:endParaRPr/>
          </a:p>
          <a:p>
            <a:pPr indent="-177800" lvl="0" marL="177800" rtl="0" algn="l">
              <a:lnSpc>
                <a:spcPct val="90000"/>
              </a:lnSpc>
              <a:spcBef>
                <a:spcPts val="0"/>
              </a:spcBef>
              <a:spcAft>
                <a:spcPts val="0"/>
              </a:spcAft>
              <a:buClr>
                <a:srgbClr val="1A1D4A"/>
              </a:buClr>
              <a:buSzPts val="1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idx="1" type="body"/>
          </p:nvPr>
        </p:nvSpPr>
        <p:spPr>
          <a:xfrm>
            <a:off x="737215" y="1833069"/>
            <a:ext cx="7977300" cy="2607900"/>
          </a:xfrm>
          <a:prstGeom prst="rect">
            <a:avLst/>
          </a:prstGeom>
          <a:noFill/>
          <a:ln>
            <a:noFill/>
          </a:ln>
        </p:spPr>
        <p:txBody>
          <a:bodyPr anchorCtr="0" anchor="t" bIns="34275" lIns="68575" spcFirstLastPara="1" rIns="68575" wrap="square" tIns="34275">
            <a:noAutofit/>
          </a:bodyPr>
          <a:lstStyle/>
          <a:p>
            <a:pPr indent="-177800" lvl="0" marL="177800" rtl="0" algn="l">
              <a:spcBef>
                <a:spcPts val="0"/>
              </a:spcBef>
              <a:spcAft>
                <a:spcPts val="0"/>
              </a:spcAft>
              <a:buClr>
                <a:srgbClr val="1A1D4A"/>
              </a:buClr>
              <a:buSzPts val="1400"/>
              <a:buFont typeface="Arial"/>
              <a:buNone/>
            </a:pPr>
            <a:r>
              <a:rPr lang="pt-BR"/>
              <a:t>O fluxo da atividade sintetiza algumas práticas importantes do mercado de tecnologia:</a:t>
            </a:r>
            <a:endParaRPr/>
          </a:p>
          <a:p>
            <a:pPr indent="-177800" lvl="0" marL="177800" rtl="0" algn="l">
              <a:spcBef>
                <a:spcPts val="0"/>
              </a:spcBef>
              <a:spcAft>
                <a:spcPts val="0"/>
              </a:spcAft>
              <a:buClr>
                <a:srgbClr val="1A1D4A"/>
              </a:buClr>
              <a:buSzPts val="1400"/>
              <a:buFont typeface="Arial"/>
              <a:buNone/>
            </a:pPr>
            <a:r>
              <a:t/>
            </a:r>
            <a:endParaRPr/>
          </a:p>
          <a:p>
            <a:pPr indent="-177800" lvl="0" marL="177800" rtl="0" algn="l">
              <a:spcBef>
                <a:spcPts val="0"/>
              </a:spcBef>
              <a:spcAft>
                <a:spcPts val="0"/>
              </a:spcAft>
              <a:buClr>
                <a:srgbClr val="1A1D4A"/>
              </a:buClr>
              <a:buSzPts val="1400"/>
              <a:buFont typeface="Arial"/>
              <a:buNone/>
            </a:pPr>
            <a:r>
              <a:rPr b="1" lang="pt-BR"/>
              <a:t>Desenvolvimento em Silos (Trabalho Isolado)</a:t>
            </a:r>
            <a:endParaRPr b="1"/>
          </a:p>
          <a:p>
            <a:pPr indent="-177800" lvl="0" marL="177800" rtl="0" algn="l">
              <a:spcBef>
                <a:spcPts val="0"/>
              </a:spcBef>
              <a:spcAft>
                <a:spcPts val="0"/>
              </a:spcAft>
              <a:buClr>
                <a:srgbClr val="1A1D4A"/>
              </a:buClr>
              <a:buSzPts val="1400"/>
              <a:buFont typeface="Arial"/>
              <a:buNone/>
            </a:pPr>
            <a:r>
              <a:t/>
            </a:r>
            <a:endParaRPr/>
          </a:p>
          <a:p>
            <a:pPr indent="-177800" lvl="0" marL="177800" rtl="0" algn="l">
              <a:spcBef>
                <a:spcPts val="0"/>
              </a:spcBef>
              <a:spcAft>
                <a:spcPts val="0"/>
              </a:spcAft>
              <a:buClr>
                <a:srgbClr val="1A1D4A"/>
              </a:buClr>
              <a:buSzPts val="1400"/>
              <a:buFont typeface="Arial"/>
              <a:buNone/>
            </a:pPr>
            <a:r>
              <a:rPr lang="pt-BR"/>
              <a:t>As equipes trabalham separadamente em suas mesas construindo os blocos de 7 peças, que representam o desenvolvimento independente do Backend e do Mobile. Em muitos momentos, cada grupo acredita que sua solução está correta porque, dentro do próprio contexto, tudo parece funcionar adequadamente.</a:t>
            </a:r>
            <a:endParaRPr/>
          </a:p>
          <a:p>
            <a:pPr indent="-177800" lvl="0" marL="177800" rtl="0" algn="l">
              <a:spcBef>
                <a:spcPts val="0"/>
              </a:spcBef>
              <a:spcAft>
                <a:spcPts val="0"/>
              </a:spcAft>
              <a:buClr>
                <a:srgbClr val="1A1D4A"/>
              </a:buClr>
              <a:buSzPts val="1400"/>
              <a:buFont typeface="Arial"/>
              <a:buNone/>
            </a:pPr>
            <a:r>
              <a:t/>
            </a:r>
            <a:endParaRPr/>
          </a:p>
          <a:p>
            <a:pPr indent="-177800" lvl="0" marL="177800" rtl="0" algn="l">
              <a:spcBef>
                <a:spcPts val="0"/>
              </a:spcBef>
              <a:spcAft>
                <a:spcPts val="0"/>
              </a:spcAft>
              <a:buClr>
                <a:srgbClr val="1A1D4A"/>
              </a:buClr>
              <a:buSzPts val="1400"/>
              <a:buFont typeface="Arial"/>
              <a:buNone/>
            </a:pPr>
            <a:r>
              <a:rPr lang="pt-BR"/>
              <a:t>No entanto, a ausência de comunicação contínua entre as equipes gera o problema clássico do “na minha máquina funciona”. Quando chega o momento da integração, surgem incompatibilidades no encaixe físico das estruturas, simulando os conflitos que normalmente aparecem durante um deploy real.</a:t>
            </a:r>
            <a:endParaRPr/>
          </a:p>
          <a:p>
            <a:pPr indent="-177800" lvl="0" marL="177800" rtl="0" algn="l">
              <a:spcBef>
                <a:spcPts val="0"/>
              </a:spcBef>
              <a:spcAft>
                <a:spcPts val="0"/>
              </a:spcAft>
              <a:buClr>
                <a:srgbClr val="1A1D4A"/>
              </a:buClr>
              <a:buSzPts val="1400"/>
              <a:buFont typeface="Arial"/>
              <a:buNone/>
            </a:pPr>
            <a:r>
              <a:t/>
            </a:r>
            <a:endParaRPr/>
          </a:p>
          <a:p>
            <a:pPr indent="-177800" lvl="0" marL="177800" rtl="0" algn="l">
              <a:spcBef>
                <a:spcPts val="0"/>
              </a:spcBef>
              <a:spcAft>
                <a:spcPts val="0"/>
              </a:spcAft>
              <a:buClr>
                <a:srgbClr val="1A1D4A"/>
              </a:buClr>
              <a:buSzPts val="1400"/>
              <a:buFont typeface="Arial"/>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idx="1" type="body"/>
          </p:nvPr>
        </p:nvSpPr>
        <p:spPr>
          <a:xfrm>
            <a:off x="725370" y="1821224"/>
            <a:ext cx="7977300" cy="2607900"/>
          </a:xfrm>
          <a:prstGeom prst="rect">
            <a:avLst/>
          </a:prstGeom>
          <a:noFill/>
          <a:ln>
            <a:noFill/>
          </a:ln>
        </p:spPr>
        <p:txBody>
          <a:bodyPr anchorCtr="0" anchor="t" bIns="34275" lIns="68575" spcFirstLastPara="1" rIns="68575" wrap="square" tIns="34275">
            <a:noAutofit/>
          </a:bodyPr>
          <a:lstStyle/>
          <a:p>
            <a:pPr indent="0" lvl="0" marL="0" rtl="0" algn="l">
              <a:spcBef>
                <a:spcPts val="800"/>
              </a:spcBef>
              <a:spcAft>
                <a:spcPts val="0"/>
              </a:spcAft>
              <a:buNone/>
            </a:pPr>
            <a:r>
              <a:t/>
            </a:r>
            <a:endParaRPr/>
          </a:p>
          <a:p>
            <a:pPr indent="0" lvl="0" marL="0" rtl="0" algn="l">
              <a:spcBef>
                <a:spcPts val="800"/>
              </a:spcBef>
              <a:spcAft>
                <a:spcPts val="0"/>
              </a:spcAft>
              <a:buNone/>
            </a:pPr>
            <a:r>
              <a:rPr b="1" lang="pt-BR"/>
              <a:t>Contratos de Interface (APIs)</a:t>
            </a:r>
            <a:endParaRPr b="1"/>
          </a:p>
          <a:p>
            <a:pPr indent="0" lvl="0" marL="0" rtl="0" algn="l">
              <a:spcBef>
                <a:spcPts val="800"/>
              </a:spcBef>
              <a:spcAft>
                <a:spcPts val="0"/>
              </a:spcAft>
              <a:buNone/>
            </a:pPr>
            <a:r>
              <a:t/>
            </a:r>
            <a:endParaRPr/>
          </a:p>
          <a:p>
            <a:pPr indent="0" lvl="0" marL="0" rtl="0" algn="l">
              <a:spcBef>
                <a:spcPts val="800"/>
              </a:spcBef>
              <a:spcAft>
                <a:spcPts val="0"/>
              </a:spcAft>
              <a:buNone/>
            </a:pPr>
            <a:r>
              <a:rPr lang="pt-BR"/>
              <a:t>O formato e o encaixe das peças representam as regras de negócio e os contratos de API necessários para conectar as duas partes do sistema. Em outras palavras, as equipes precisam estabelecer previamente como ocorrerá essa comunicação.</a:t>
            </a:r>
            <a:endParaRPr/>
          </a:p>
          <a:p>
            <a:pPr indent="0" lvl="0" marL="0" rtl="0" algn="l">
              <a:spcBef>
                <a:spcPts val="800"/>
              </a:spcBef>
              <a:spcAft>
                <a:spcPts val="0"/>
              </a:spcAft>
              <a:buNone/>
            </a:pPr>
            <a:r>
              <a:rPr lang="pt-BR"/>
              <a:t>Ao longo da atividade, os alunos percebem que pequenas diferenças de interpretação já podem impedir o funcionamento correto da integração. Isso ajuda a tornar mais evidente a importância da padronização e da validação entre as partes envolvidas.</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ph idx="1" type="body"/>
          </p:nvPr>
        </p:nvSpPr>
        <p:spPr>
          <a:xfrm>
            <a:off x="725370" y="1821224"/>
            <a:ext cx="7977300" cy="2607900"/>
          </a:xfrm>
          <a:prstGeom prst="rect">
            <a:avLst/>
          </a:prstGeom>
          <a:noFill/>
          <a:ln>
            <a:noFill/>
          </a:ln>
        </p:spPr>
        <p:txBody>
          <a:bodyPr anchorCtr="0" anchor="t" bIns="34275" lIns="68575" spcFirstLastPara="1" rIns="68575" wrap="square" tIns="34275">
            <a:noAutofit/>
          </a:bodyPr>
          <a:lstStyle/>
          <a:p>
            <a:pPr indent="0" lvl="0" marL="0" rtl="0" algn="l">
              <a:spcBef>
                <a:spcPts val="800"/>
              </a:spcBef>
              <a:spcAft>
                <a:spcPts val="0"/>
              </a:spcAft>
              <a:buNone/>
            </a:pPr>
            <a:r>
              <a:t/>
            </a:r>
            <a:endParaRPr/>
          </a:p>
          <a:p>
            <a:pPr indent="0" lvl="0" marL="0" rtl="0" algn="l">
              <a:spcBef>
                <a:spcPts val="800"/>
              </a:spcBef>
              <a:spcAft>
                <a:spcPts val="0"/>
              </a:spcAft>
              <a:buNone/>
            </a:pPr>
            <a:r>
              <a:rPr b="1" lang="pt-BR"/>
              <a:t>Pipeline de Testes Automatizados (Critério de Aceite)</a:t>
            </a:r>
            <a:endParaRPr b="1"/>
          </a:p>
          <a:p>
            <a:pPr indent="0" lvl="0" marL="0" rtl="0" algn="l">
              <a:spcBef>
                <a:spcPts val="800"/>
              </a:spcBef>
              <a:spcAft>
                <a:spcPts val="0"/>
              </a:spcAft>
              <a:buNone/>
            </a:pPr>
            <a:r>
              <a:rPr lang="pt-BR"/>
              <a:t>O quadro vazado, que representa a Interface de Login, funciona como uma metáfora para o pipeline de testes automatizados. Se os blocos desenvolvidos pelas equipes ultrapassarem os limites definidos ou forem montados em um arranjo inadequado, o sistema falha fisicamente e não consegue atravessar o quadro.</a:t>
            </a:r>
            <a:endParaRPr/>
          </a:p>
          <a:p>
            <a:pPr indent="0" lvl="0" marL="0" rtl="0" algn="l">
              <a:spcBef>
                <a:spcPts val="800"/>
              </a:spcBef>
              <a:spcAft>
                <a:spcPts val="0"/>
              </a:spcAft>
              <a:buNone/>
            </a:pPr>
            <a:r>
              <a:rPr lang="pt-BR"/>
              <a:t>Esse retorno imediato costuma gerar um impacto importante na compreensão dos alunos, porque o erro deixa de ser apenas uma mensagem técnica e passa a ser percebido visualmente.</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7"/>
          <p:cNvSpPr txBox="1"/>
          <p:nvPr>
            <p:ph idx="1" type="body"/>
          </p:nvPr>
        </p:nvSpPr>
        <p:spPr>
          <a:xfrm>
            <a:off x="725370" y="1821224"/>
            <a:ext cx="7977300" cy="2607900"/>
          </a:xfrm>
          <a:prstGeom prst="rect">
            <a:avLst/>
          </a:prstGeom>
          <a:noFill/>
          <a:ln>
            <a:noFill/>
          </a:ln>
        </p:spPr>
        <p:txBody>
          <a:bodyPr anchorCtr="0" anchor="t" bIns="34275" lIns="68575" spcFirstLastPara="1" rIns="68575" wrap="square" tIns="34275">
            <a:noAutofit/>
          </a:bodyPr>
          <a:lstStyle/>
          <a:p>
            <a:pPr indent="0" lvl="0" marL="0" rtl="0" algn="l">
              <a:spcBef>
                <a:spcPts val="800"/>
              </a:spcBef>
              <a:spcAft>
                <a:spcPts val="0"/>
              </a:spcAft>
              <a:buNone/>
            </a:pPr>
            <a:r>
              <a:t/>
            </a:r>
            <a:endParaRPr/>
          </a:p>
          <a:p>
            <a:pPr indent="0" lvl="0" marL="0" rtl="0" algn="l">
              <a:spcBef>
                <a:spcPts val="800"/>
              </a:spcBef>
              <a:spcAft>
                <a:spcPts val="0"/>
              </a:spcAft>
              <a:buNone/>
            </a:pPr>
            <a:r>
              <a:rPr b="1" lang="pt-BR"/>
              <a:t>Refatoração (Refactoring)</a:t>
            </a:r>
            <a:endParaRPr b="1"/>
          </a:p>
          <a:p>
            <a:pPr indent="0" lvl="0" marL="0" rtl="0" algn="l">
              <a:spcBef>
                <a:spcPts val="800"/>
              </a:spcBef>
              <a:spcAft>
                <a:spcPts val="0"/>
              </a:spcAft>
              <a:buNone/>
            </a:pPr>
            <a:r>
              <a:rPr lang="pt-BR"/>
              <a:t>Quando o bloco final não atende aos critérios esperados, os estudantes precisam reorganizar internamente a disposição das 7 peças sem modificar os componentes originais. Nesse momento, a atividade introduz o conceito de refatoração.</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BR"/>
              <a:t>Os alunos geralmente percebem que o problema nem sempre está nas peças isoladas, mas na maneira como elas foram organizadas. Essa etapa estimula análise, revisão de estratégia e colaboração entre as equipes.</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txBox="1"/>
          <p:nvPr>
            <p:ph idx="1" type="body"/>
          </p:nvPr>
        </p:nvSpPr>
        <p:spPr>
          <a:xfrm>
            <a:off x="725370" y="1821224"/>
            <a:ext cx="7977300" cy="2607900"/>
          </a:xfrm>
          <a:prstGeom prst="rect">
            <a:avLst/>
          </a:prstGeom>
          <a:noFill/>
          <a:ln>
            <a:noFill/>
          </a:ln>
        </p:spPr>
        <p:txBody>
          <a:bodyPr anchorCtr="0" anchor="t" bIns="34275" lIns="68575" spcFirstLastPara="1" rIns="68575" wrap="square" tIns="34275">
            <a:noAutofit/>
          </a:bodyPr>
          <a:lstStyle/>
          <a:p>
            <a:pPr indent="0" lvl="0" marL="0" rtl="0" algn="l">
              <a:spcBef>
                <a:spcPts val="800"/>
              </a:spcBef>
              <a:spcAft>
                <a:spcPts val="0"/>
              </a:spcAft>
              <a:buClr>
                <a:schemeClr val="dk1"/>
              </a:buClr>
              <a:buSzPts val="1100"/>
              <a:buFont typeface="Arial"/>
              <a:buNone/>
            </a:pPr>
            <a:r>
              <a:rPr b="1" lang="pt-BR"/>
              <a:t>Importância da Abordagem Lúdica na Aprendizagem</a:t>
            </a:r>
            <a:endParaRPr b="1"/>
          </a:p>
          <a:p>
            <a:pPr indent="0" lvl="0" marL="0" rtl="0" algn="l">
              <a:spcBef>
                <a:spcPts val="800"/>
              </a:spcBef>
              <a:spcAft>
                <a:spcPts val="0"/>
              </a:spcAft>
              <a:buClr>
                <a:schemeClr val="dk1"/>
              </a:buClr>
              <a:buSzPts val="1100"/>
              <a:buFont typeface="Arial"/>
              <a:buNone/>
            </a:pPr>
            <a:r>
              <a:rPr lang="pt-BR"/>
              <a:t>O uso dos blocos e do quadro vazado contribui diretamente para a retenção do conhecimento porque transforma um problema abstrato em uma experiência concreta. No ensino de DevOps, especialmente para alunos iniciantes, erros de integração costumam ser difíceis de identificar, já que normalmente aparecem em logs, falhas de compilação, rotas incorretas ou mensagens técnicas pouco intuitivas.</a:t>
            </a:r>
            <a:endParaRPr/>
          </a:p>
          <a:p>
            <a:pPr indent="0" lvl="0" marL="0" rtl="0" algn="l">
              <a:spcBef>
                <a:spcPts val="800"/>
              </a:spcBef>
              <a:spcAft>
                <a:spcPts val="0"/>
              </a:spcAft>
              <a:buClr>
                <a:schemeClr val="dk1"/>
              </a:buClr>
              <a:buSzPts val="1100"/>
              <a:buFont typeface="Arial"/>
              <a:buNone/>
            </a:pPr>
            <a:r>
              <a:rPr lang="pt-BR"/>
              <a:t>Com a abordagem lúdica, o erro se torna visível. Quando a integração falha, o bloco simplesmente não atravessa o quadro da interface de login. O aluno percebe imediatamente que existe algo incompatível na construção e passa a investigar a origem do problema de maneira mais natural.</a:t>
            </a:r>
            <a:endParaRPr/>
          </a:p>
          <a:p>
            <a:pPr indent="0" lvl="0" marL="0" rtl="0" algn="l">
              <a:spcBef>
                <a:spcPts val="800"/>
              </a:spcBef>
              <a:spcAft>
                <a:spcPts val="0"/>
              </a:spcAft>
              <a:buClr>
                <a:schemeClr val="dk1"/>
              </a:buClr>
              <a:buSzPts val="1100"/>
              <a:buFont typeface="Arial"/>
              <a:buNone/>
            </a:pPr>
            <a:r>
              <a:t/>
            </a:r>
            <a:endParaRPr/>
          </a:p>
          <a:p>
            <a:pPr indent="0" lvl="0" marL="0" rtl="0" algn="l">
              <a:spcBef>
                <a:spcPts val="800"/>
              </a:spcBef>
              <a:spcAft>
                <a:spcPts val="0"/>
              </a:spcAft>
              <a:buClr>
                <a:schemeClr val="dk1"/>
              </a:buClr>
              <a:buSzPts val="1100"/>
              <a:buFont typeface="Arial"/>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idx="1" type="body"/>
          </p:nvPr>
        </p:nvSpPr>
        <p:spPr>
          <a:xfrm>
            <a:off x="725370" y="1821224"/>
            <a:ext cx="7977300" cy="2607900"/>
          </a:xfrm>
          <a:prstGeom prst="rect">
            <a:avLst/>
          </a:prstGeom>
          <a:noFill/>
          <a:ln>
            <a:noFill/>
          </a:ln>
        </p:spPr>
        <p:txBody>
          <a:bodyPr anchorCtr="0" anchor="t" bIns="34275" lIns="68575" spcFirstLastPara="1" rIns="68575" wrap="square" tIns="34275">
            <a:noAutofit/>
          </a:bodyPr>
          <a:lstStyle/>
          <a:p>
            <a:pPr indent="0" lvl="0" marL="0" rtl="0" algn="l">
              <a:spcBef>
                <a:spcPts val="800"/>
              </a:spcBef>
              <a:spcAft>
                <a:spcPts val="0"/>
              </a:spcAft>
              <a:buNone/>
            </a:pPr>
            <a:r>
              <a:t/>
            </a:r>
            <a:endParaRPr sz="1600"/>
          </a:p>
          <a:p>
            <a:pPr indent="0" lvl="0" marL="0" rtl="0" algn="l">
              <a:spcBef>
                <a:spcPts val="800"/>
              </a:spcBef>
              <a:spcAft>
                <a:spcPts val="0"/>
              </a:spcAft>
              <a:buNone/>
            </a:pPr>
            <a:r>
              <a:rPr i="1" lang="pt-BR" sz="1600"/>
              <a:t>Além disso, a atividade reduz a barreira inicial causada pela complexidade técnica. Em vez de concentrar a atenção apenas na sintaxe ou nas ferramentas, os estudantes conseguem focar primeiro na lógica da integração, na comunicação entre equipes e na necessidade de validar entregas continuamente durante o desenvolvimento do sistema.</a:t>
            </a:r>
            <a:endParaRPr i="1"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idx="1" type="body"/>
          </p:nvPr>
        </p:nvSpPr>
        <p:spPr>
          <a:xfrm>
            <a:off x="725370" y="1755863"/>
            <a:ext cx="7977188" cy="2673263"/>
          </a:xfrm>
          <a:prstGeom prst="rect">
            <a:avLst/>
          </a:prstGeom>
          <a:noFill/>
          <a:ln>
            <a:noFill/>
          </a:ln>
        </p:spPr>
        <p:txBody>
          <a:bodyPr anchorCtr="0" anchor="t" bIns="34275" lIns="68575" spcFirstLastPara="1" rIns="68575" wrap="square" tIns="34275">
            <a:noAutofit/>
          </a:bodyPr>
          <a:lstStyle/>
          <a:p>
            <a:pPr indent="-177800" lvl="0" marL="177800" rtl="0" algn="l">
              <a:lnSpc>
                <a:spcPct val="90000"/>
              </a:lnSpc>
              <a:spcBef>
                <a:spcPts val="0"/>
              </a:spcBef>
              <a:spcAft>
                <a:spcPts val="0"/>
              </a:spcAft>
              <a:buClr>
                <a:srgbClr val="1A1D4A"/>
              </a:buClr>
              <a:buSzPts val="1400"/>
              <a:buNone/>
            </a:pPr>
            <a:br>
              <a:rPr lang="pt-BR"/>
            </a:br>
            <a:r>
              <a:rPr b="1" lang="pt-BR"/>
              <a:t>Habilidades T</a:t>
            </a:r>
            <a:r>
              <a:rPr b="1" lang="pt-BR"/>
              <a:t>écnicas:</a:t>
            </a:r>
            <a:br>
              <a:rPr lang="pt-BR"/>
            </a:br>
            <a:r>
              <a:rPr lang="pt-BR"/>
              <a:t>Analisar estratégias de CI e configurar fluxos simples com ações automatizadas no GitHub.	</a:t>
            </a:r>
            <a:br>
              <a:rPr lang="pt-BR"/>
            </a:br>
            <a:br>
              <a:rPr lang="pt-BR"/>
            </a:br>
            <a:r>
              <a:rPr b="1" lang="pt-BR"/>
              <a:t>Habildades socioemocionais:</a:t>
            </a:r>
            <a:br>
              <a:rPr lang="pt-BR"/>
            </a:br>
            <a:r>
              <a:rPr lang="pt-BR"/>
              <a:t>Demonstrar interesse por ferramentas que aumentam a qualidade e a produtividade, superando as dificuldades iniciais com perseverança e atitude proativa.	</a:t>
            </a:r>
            <a:br>
              <a:rPr lang="pt-BR"/>
            </a:br>
            <a:br>
              <a:rPr lang="pt-BR"/>
            </a:br>
            <a:r>
              <a:rPr lang="pt-BR"/>
              <a:t>Possibilitando assim </a:t>
            </a:r>
            <a:r>
              <a:rPr lang="pt-BR"/>
              <a:t>atingirmos</a:t>
            </a:r>
            <a:r>
              <a:rPr lang="pt-BR"/>
              <a:t> os objetivos da aluna levando assim o aluno a </a:t>
            </a:r>
            <a:r>
              <a:rPr lang="pt-BR"/>
              <a:t>Compreender o conceito de CI e seus benefícios no desenvolvimento.</a:t>
            </a:r>
            <a:br>
              <a:rPr lang="pt-BR"/>
            </a:b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1"/>
          <p:cNvSpPr txBox="1"/>
          <p:nvPr>
            <p:ph idx="1" type="body"/>
          </p:nvPr>
        </p:nvSpPr>
        <p:spPr>
          <a:xfrm>
            <a:off x="725370" y="1417661"/>
            <a:ext cx="7977300" cy="30114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2400"/>
              </a:spcBef>
              <a:spcAft>
                <a:spcPts val="0"/>
              </a:spcAft>
              <a:buClr>
                <a:schemeClr val="dk1"/>
              </a:buClr>
              <a:buSzPts val="1100"/>
              <a:buNone/>
            </a:pPr>
            <a:br>
              <a:rPr b="1" lang="pt-BR" sz="1600">
                <a:solidFill>
                  <a:schemeClr val="dk1"/>
                </a:solidFill>
                <a:latin typeface="Arial"/>
                <a:ea typeface="Arial"/>
                <a:cs typeface="Arial"/>
                <a:sym typeface="Arial"/>
              </a:rPr>
            </a:br>
            <a:r>
              <a:rPr b="1" lang="pt-BR" sz="1600">
                <a:solidFill>
                  <a:schemeClr val="dk1"/>
                </a:solidFill>
                <a:latin typeface="Arial"/>
                <a:ea typeface="Arial"/>
                <a:cs typeface="Arial"/>
                <a:sym typeface="Arial"/>
              </a:rPr>
              <a:t>Resultados Observados</a:t>
            </a:r>
            <a:endParaRPr b="1" sz="1600">
              <a:solidFill>
                <a:schemeClr val="dk1"/>
              </a:solidFill>
              <a:latin typeface="Arial"/>
              <a:ea typeface="Arial"/>
              <a:cs typeface="Arial"/>
              <a:sym typeface="Arial"/>
            </a:endParaRPr>
          </a:p>
          <a:p>
            <a:pPr indent="-311150" lvl="0" marL="457200" rtl="0" algn="l">
              <a:lnSpc>
                <a:spcPct val="115000"/>
              </a:lnSpc>
              <a:spcBef>
                <a:spcPts val="1200"/>
              </a:spcBef>
              <a:spcAft>
                <a:spcPts val="0"/>
              </a:spcAft>
              <a:buClr>
                <a:schemeClr val="dk1"/>
              </a:buClr>
              <a:buSzPts val="1300"/>
              <a:buChar char="●"/>
            </a:pPr>
            <a:r>
              <a:rPr lang="pt-BR" sz="1300">
                <a:solidFill>
                  <a:schemeClr val="dk1"/>
                </a:solidFill>
                <a:latin typeface="Arial"/>
                <a:ea typeface="Arial"/>
                <a:cs typeface="Arial"/>
                <a:sym typeface="Arial"/>
              </a:rPr>
              <a:t>Os alunos compreenderam com mais clareza conceitos de integração, compatibilidade e validação contínua.</a:t>
            </a:r>
            <a:endParaRPr sz="1300">
              <a:solidFill>
                <a:schemeClr val="dk1"/>
              </a:solidFill>
              <a:latin typeface="Arial"/>
              <a:ea typeface="Arial"/>
              <a:cs typeface="Arial"/>
              <a:sym typeface="Arial"/>
            </a:endParaRPr>
          </a:p>
          <a:p>
            <a:pPr indent="-311150" lvl="0" marL="457200" rtl="0" algn="l">
              <a:lnSpc>
                <a:spcPct val="115000"/>
              </a:lnSpc>
              <a:spcBef>
                <a:spcPts val="0"/>
              </a:spcBef>
              <a:spcAft>
                <a:spcPts val="0"/>
              </a:spcAft>
              <a:buClr>
                <a:schemeClr val="dk1"/>
              </a:buClr>
              <a:buSzPts val="1300"/>
              <a:buChar char="●"/>
            </a:pPr>
            <a:r>
              <a:rPr lang="pt-BR" sz="1300">
                <a:solidFill>
                  <a:schemeClr val="dk1"/>
                </a:solidFill>
                <a:latin typeface="Arial"/>
                <a:ea typeface="Arial"/>
                <a:cs typeface="Arial"/>
                <a:sym typeface="Arial"/>
              </a:rPr>
              <a:t>A dinâmica transformou problemas técnicos abstratos em situações visíveis e práticas.</a:t>
            </a:r>
            <a:endParaRPr sz="1300">
              <a:solidFill>
                <a:schemeClr val="dk1"/>
              </a:solidFill>
              <a:latin typeface="Arial"/>
              <a:ea typeface="Arial"/>
              <a:cs typeface="Arial"/>
              <a:sym typeface="Arial"/>
            </a:endParaRPr>
          </a:p>
          <a:p>
            <a:pPr indent="-311150" lvl="0" marL="457200" rtl="0" algn="l">
              <a:lnSpc>
                <a:spcPct val="115000"/>
              </a:lnSpc>
              <a:spcBef>
                <a:spcPts val="0"/>
              </a:spcBef>
              <a:spcAft>
                <a:spcPts val="0"/>
              </a:spcAft>
              <a:buClr>
                <a:schemeClr val="dk1"/>
              </a:buClr>
              <a:buSzPts val="1300"/>
              <a:buChar char="●"/>
            </a:pPr>
            <a:r>
              <a:rPr lang="pt-BR" sz="1300">
                <a:solidFill>
                  <a:schemeClr val="dk1"/>
                </a:solidFill>
                <a:latin typeface="Arial"/>
                <a:ea typeface="Arial"/>
                <a:cs typeface="Arial"/>
                <a:sym typeface="Arial"/>
              </a:rPr>
              <a:t>O erro passou a ser percebido como parte do processo de aprendizagem, incentivando revisão e reorganização das estratégias.</a:t>
            </a:r>
            <a:endParaRPr sz="1300">
              <a:solidFill>
                <a:schemeClr val="dk1"/>
              </a:solidFill>
              <a:latin typeface="Arial"/>
              <a:ea typeface="Arial"/>
              <a:cs typeface="Arial"/>
              <a:sym typeface="Arial"/>
            </a:endParaRPr>
          </a:p>
          <a:p>
            <a:pPr indent="-311150" lvl="0" marL="457200" rtl="0" algn="l">
              <a:lnSpc>
                <a:spcPct val="115000"/>
              </a:lnSpc>
              <a:spcBef>
                <a:spcPts val="0"/>
              </a:spcBef>
              <a:spcAft>
                <a:spcPts val="0"/>
              </a:spcAft>
              <a:buClr>
                <a:schemeClr val="dk1"/>
              </a:buClr>
              <a:buSzPts val="1300"/>
              <a:buChar char="●"/>
            </a:pPr>
            <a:r>
              <a:rPr lang="pt-BR" sz="1300">
                <a:solidFill>
                  <a:schemeClr val="dk1"/>
                </a:solidFill>
                <a:latin typeface="Arial"/>
                <a:ea typeface="Arial"/>
                <a:cs typeface="Arial"/>
                <a:sym typeface="Arial"/>
              </a:rPr>
              <a:t>Houve maior engajamento dos estudantes durante as etapas de integração e correção dos blocos.</a:t>
            </a:r>
            <a:endParaRPr sz="1300">
              <a:solidFill>
                <a:schemeClr val="dk1"/>
              </a:solidFill>
              <a:latin typeface="Arial"/>
              <a:ea typeface="Arial"/>
              <a:cs typeface="Arial"/>
              <a:sym typeface="Arial"/>
            </a:endParaRPr>
          </a:p>
          <a:p>
            <a:pPr indent="-311150" lvl="0" marL="457200" rtl="0" algn="l">
              <a:lnSpc>
                <a:spcPct val="115000"/>
              </a:lnSpc>
              <a:spcBef>
                <a:spcPts val="0"/>
              </a:spcBef>
              <a:spcAft>
                <a:spcPts val="0"/>
              </a:spcAft>
              <a:buClr>
                <a:schemeClr val="dk1"/>
              </a:buClr>
              <a:buSzPts val="1300"/>
              <a:buChar char="●"/>
            </a:pPr>
            <a:r>
              <a:rPr lang="pt-BR" sz="1300">
                <a:solidFill>
                  <a:schemeClr val="dk1"/>
                </a:solidFill>
                <a:latin typeface="Arial"/>
                <a:ea typeface="Arial"/>
                <a:cs typeface="Arial"/>
                <a:sym typeface="Arial"/>
              </a:rPr>
              <a:t>Os grupos identificaram, na prática, a importância da comunicação entre equipes durante o desenvolvimento.</a:t>
            </a:r>
            <a:endParaRPr sz="1300">
              <a:solidFill>
                <a:schemeClr val="dk1"/>
              </a:solidFill>
              <a:latin typeface="Arial"/>
              <a:ea typeface="Arial"/>
              <a:cs typeface="Arial"/>
              <a:sym typeface="Arial"/>
            </a:endParaRPr>
          </a:p>
          <a:p>
            <a:pPr indent="-177800" lvl="0" marL="177800" rtl="0" algn="l">
              <a:lnSpc>
                <a:spcPct val="90000"/>
              </a:lnSpc>
              <a:spcBef>
                <a:spcPts val="1200"/>
              </a:spcBef>
              <a:spcAft>
                <a:spcPts val="0"/>
              </a:spcAft>
              <a:buClr>
                <a:srgbClr val="1A1D4A"/>
              </a:buClr>
              <a:buSzPts val="14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ph idx="1" type="body"/>
          </p:nvPr>
        </p:nvSpPr>
        <p:spPr>
          <a:xfrm>
            <a:off x="725370" y="1417661"/>
            <a:ext cx="7977300" cy="30114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200"/>
              </a:spcBef>
              <a:spcAft>
                <a:spcPts val="0"/>
              </a:spcAft>
              <a:buNone/>
            </a:pPr>
            <a:r>
              <a:rPr b="1" lang="pt-BR" sz="1600">
                <a:solidFill>
                  <a:schemeClr val="dk1"/>
                </a:solidFill>
                <a:latin typeface="Arial"/>
                <a:ea typeface="Arial"/>
                <a:cs typeface="Arial"/>
                <a:sym typeface="Arial"/>
              </a:rPr>
              <a:t>Aprendizados como Educadores</a:t>
            </a:r>
            <a:endParaRPr b="1" sz="1600">
              <a:solidFill>
                <a:schemeClr val="dk1"/>
              </a:solidFill>
              <a:latin typeface="Arial"/>
              <a:ea typeface="Arial"/>
              <a:cs typeface="Arial"/>
              <a:sym typeface="Arial"/>
            </a:endParaRPr>
          </a:p>
          <a:p>
            <a:pPr indent="-317500" lvl="0" marL="457200" rtl="0" algn="l">
              <a:lnSpc>
                <a:spcPct val="90000"/>
              </a:lnSpc>
              <a:spcBef>
                <a:spcPts val="1200"/>
              </a:spcBef>
              <a:spcAft>
                <a:spcPts val="0"/>
              </a:spcAft>
              <a:buSzPts val="1400"/>
              <a:buChar char="●"/>
            </a:pPr>
            <a:r>
              <a:rPr lang="pt-BR"/>
              <a:t>A abordagem lúdica facilitou a compreensão inicial de conceitos complexos de Engenharia de Software e DevOps.</a:t>
            </a:r>
            <a:endParaRPr/>
          </a:p>
          <a:p>
            <a:pPr indent="-317500" lvl="0" marL="457200" rtl="0" algn="l">
              <a:lnSpc>
                <a:spcPct val="90000"/>
              </a:lnSpc>
              <a:spcBef>
                <a:spcPts val="0"/>
              </a:spcBef>
              <a:spcAft>
                <a:spcPts val="0"/>
              </a:spcAft>
              <a:buSzPts val="1400"/>
              <a:buChar char="●"/>
            </a:pPr>
            <a:r>
              <a:rPr lang="pt-BR"/>
              <a:t>A representação física dos problemas tornou o aprendizado mais imediato e participativo.</a:t>
            </a:r>
            <a:endParaRPr/>
          </a:p>
          <a:p>
            <a:pPr indent="-317500" lvl="0" marL="457200" rtl="0" algn="l">
              <a:lnSpc>
                <a:spcPct val="90000"/>
              </a:lnSpc>
              <a:spcBef>
                <a:spcPts val="0"/>
              </a:spcBef>
              <a:spcAft>
                <a:spcPts val="0"/>
              </a:spcAft>
              <a:buSzPts val="1400"/>
              <a:buChar char="●"/>
            </a:pPr>
            <a:r>
              <a:rPr lang="pt-BR"/>
              <a:t>A atividade estimulou colaboração, negociação e resolução coletiva de problemas.</a:t>
            </a:r>
            <a:endParaRPr/>
          </a:p>
          <a:p>
            <a:pPr indent="-317500" lvl="0" marL="457200" rtl="0" algn="l">
              <a:lnSpc>
                <a:spcPct val="90000"/>
              </a:lnSpc>
              <a:spcBef>
                <a:spcPts val="0"/>
              </a:spcBef>
              <a:spcAft>
                <a:spcPts val="0"/>
              </a:spcAft>
              <a:buSzPts val="1400"/>
              <a:buChar char="●"/>
            </a:pPr>
            <a:r>
              <a:rPr lang="pt-BR"/>
              <a:t>Os estudantes passaram a validar hipóteses e revisar decisões de forma mais autônoma.</a:t>
            </a:r>
            <a:endParaRPr/>
          </a:p>
          <a:p>
            <a:pPr indent="-317500" lvl="0" marL="457200" rtl="0" algn="l">
              <a:lnSpc>
                <a:spcPct val="90000"/>
              </a:lnSpc>
              <a:spcBef>
                <a:spcPts val="0"/>
              </a:spcBef>
              <a:spcAft>
                <a:spcPts val="0"/>
              </a:spcAft>
              <a:buSzPts val="1400"/>
              <a:buChar char="●"/>
            </a:pPr>
            <a:r>
              <a:rPr lang="pt-BR"/>
              <a:t>A experiência reforçou que metodologias práticas podem aumentar o envolvimento sem reduzir a profundidade técnica do conteúdo.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